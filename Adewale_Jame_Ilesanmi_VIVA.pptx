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7" r:id="rId2"/>
    <p:sldId id="257" r:id="rId3"/>
    <p:sldId id="268"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91932"/>
    <a:srgbClr val="EE0006"/>
    <a:srgbClr val="FA0006"/>
    <a:srgbClr val="FF3338"/>
    <a:srgbClr val="E428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70" autoAdjust="0"/>
    <p:restoredTop sz="81640" autoAdjust="0"/>
  </p:normalViewPr>
  <p:slideViewPr>
    <p:cSldViewPr snapToGrid="0">
      <p:cViewPr varScale="1">
        <p:scale>
          <a:sx n="47" d="100"/>
          <a:sy n="47" d="100"/>
        </p:scale>
        <p:origin x="72" y="5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B3562B-97B3-42F1-9BA3-204DB3D24791}" type="doc">
      <dgm:prSet loTypeId="urn:microsoft.com/office/officeart/2008/layout/HorizontalMultiLevelHierarchy" loCatId="hierarchy" qsTypeId="urn:microsoft.com/office/officeart/2005/8/quickstyle/simple5" qsCatId="simple" csTypeId="urn:microsoft.com/office/officeart/2005/8/colors/accent1_2" csCatId="accent1" phldr="1"/>
      <dgm:spPr/>
      <dgm:t>
        <a:bodyPr/>
        <a:lstStyle/>
        <a:p>
          <a:endParaRPr lang="en-US"/>
        </a:p>
      </dgm:t>
    </dgm:pt>
    <dgm:pt modelId="{B72EAE88-72D6-446B-9AEC-1F9D402BD1D5}">
      <dgm:prSet phldrT="[Text]" custT="1"/>
      <dgm:spPr/>
      <dgm:t>
        <a:bodyPr/>
        <a:lstStyle/>
        <a:p>
          <a:r>
            <a:rPr lang="en-US" sz="2000" b="1" dirty="0"/>
            <a:t>Data Preprocessing</a:t>
          </a:r>
        </a:p>
      </dgm:t>
    </dgm:pt>
    <dgm:pt modelId="{3E4EB7F8-D7CA-4CDA-91B9-4D292A79A006}" type="parTrans" cxnId="{D12159E1-A2FD-4950-8457-877063E80AFC}">
      <dgm:prSet/>
      <dgm:spPr/>
      <dgm:t>
        <a:bodyPr/>
        <a:lstStyle/>
        <a:p>
          <a:endParaRPr lang="en-US"/>
        </a:p>
      </dgm:t>
    </dgm:pt>
    <dgm:pt modelId="{980397A0-453D-479A-BEA3-7833BEA10D60}" type="sibTrans" cxnId="{D12159E1-A2FD-4950-8457-877063E80AFC}">
      <dgm:prSet/>
      <dgm:spPr/>
      <dgm:t>
        <a:bodyPr/>
        <a:lstStyle/>
        <a:p>
          <a:endParaRPr lang="en-US"/>
        </a:p>
      </dgm:t>
    </dgm:pt>
    <dgm:pt modelId="{9E3C0A05-866A-4707-8C2B-2F6F3A23B7F0}">
      <dgm:prSet phldrT="[Text]"/>
      <dgm:spPr/>
      <dgm:t>
        <a:bodyPr/>
        <a:lstStyle/>
        <a:p>
          <a:r>
            <a:rPr lang="en-US" b="1" dirty="0"/>
            <a:t>Missing values and </a:t>
          </a:r>
          <a:r>
            <a:rPr lang="en-GB" b="1" dirty="0"/>
            <a:t>outliers' detection</a:t>
          </a:r>
          <a:endParaRPr lang="en-US" b="1" dirty="0"/>
        </a:p>
      </dgm:t>
    </dgm:pt>
    <dgm:pt modelId="{0D9D62B6-B97E-4D1F-AF97-598FF9EE276B}" type="parTrans" cxnId="{DD495B63-8BD5-4EBA-8591-C7015ED39097}">
      <dgm:prSet/>
      <dgm:spPr/>
      <dgm:t>
        <a:bodyPr/>
        <a:lstStyle/>
        <a:p>
          <a:endParaRPr lang="en-US"/>
        </a:p>
      </dgm:t>
    </dgm:pt>
    <dgm:pt modelId="{A39C01AD-9EB5-48A3-AC07-E97D78134234}" type="sibTrans" cxnId="{DD495B63-8BD5-4EBA-8591-C7015ED39097}">
      <dgm:prSet/>
      <dgm:spPr/>
      <dgm:t>
        <a:bodyPr/>
        <a:lstStyle/>
        <a:p>
          <a:endParaRPr lang="en-US"/>
        </a:p>
      </dgm:t>
    </dgm:pt>
    <dgm:pt modelId="{DAFA1321-E845-4ABC-8A61-EF288F1B910B}">
      <dgm:prSet phldrT="[Text]"/>
      <dgm:spPr/>
      <dgm:t>
        <a:bodyPr/>
        <a:lstStyle/>
        <a:p>
          <a:r>
            <a:rPr lang="en-US" b="1" dirty="0"/>
            <a:t>Feature Engineering and selection</a:t>
          </a:r>
        </a:p>
      </dgm:t>
    </dgm:pt>
    <dgm:pt modelId="{D4124316-ECA0-42EA-A1CC-025F35302909}" type="parTrans" cxnId="{7997DED6-36BB-47A8-9F64-51C211EE5B83}">
      <dgm:prSet/>
      <dgm:spPr/>
      <dgm:t>
        <a:bodyPr/>
        <a:lstStyle/>
        <a:p>
          <a:endParaRPr lang="en-US"/>
        </a:p>
      </dgm:t>
    </dgm:pt>
    <dgm:pt modelId="{FB4B25E0-6FEA-42EC-AB0B-60442BCE30AF}" type="sibTrans" cxnId="{7997DED6-36BB-47A8-9F64-51C211EE5B83}">
      <dgm:prSet/>
      <dgm:spPr/>
      <dgm:t>
        <a:bodyPr/>
        <a:lstStyle/>
        <a:p>
          <a:endParaRPr lang="en-US"/>
        </a:p>
      </dgm:t>
    </dgm:pt>
    <dgm:pt modelId="{D2D95FBA-0873-4B90-AB57-456F52019DF7}">
      <dgm:prSet phldrT="[Text]"/>
      <dgm:spPr/>
      <dgm:t>
        <a:bodyPr/>
        <a:lstStyle/>
        <a:p>
          <a:r>
            <a:rPr lang="en-US" b="1" dirty="0"/>
            <a:t>Data Scaling and PCA</a:t>
          </a:r>
        </a:p>
      </dgm:t>
    </dgm:pt>
    <dgm:pt modelId="{ECF12672-59AC-4D94-B0B4-8BA75A522824}" type="parTrans" cxnId="{9588054E-56DF-4D66-B21C-464226154B68}">
      <dgm:prSet/>
      <dgm:spPr/>
      <dgm:t>
        <a:bodyPr/>
        <a:lstStyle/>
        <a:p>
          <a:endParaRPr lang="en-US"/>
        </a:p>
      </dgm:t>
    </dgm:pt>
    <dgm:pt modelId="{CCD37B53-2BAE-4A11-A0DF-FDF79C4ED4E2}" type="sibTrans" cxnId="{9588054E-56DF-4D66-B21C-464226154B68}">
      <dgm:prSet/>
      <dgm:spPr/>
      <dgm:t>
        <a:bodyPr/>
        <a:lstStyle/>
        <a:p>
          <a:endParaRPr lang="en-US"/>
        </a:p>
      </dgm:t>
    </dgm:pt>
    <dgm:pt modelId="{5343778B-0DAD-40B8-9267-6A422784C623}" type="pres">
      <dgm:prSet presAssocID="{89B3562B-97B3-42F1-9BA3-204DB3D24791}" presName="Name0" presStyleCnt="0">
        <dgm:presLayoutVars>
          <dgm:chPref val="1"/>
          <dgm:dir/>
          <dgm:animOne val="branch"/>
          <dgm:animLvl val="lvl"/>
          <dgm:resizeHandles val="exact"/>
        </dgm:presLayoutVars>
      </dgm:prSet>
      <dgm:spPr/>
      <dgm:t>
        <a:bodyPr/>
        <a:lstStyle/>
        <a:p>
          <a:endParaRPr lang="en-US"/>
        </a:p>
      </dgm:t>
    </dgm:pt>
    <dgm:pt modelId="{2D98262B-6C0B-4DD8-BE0C-0C926699CDC9}" type="pres">
      <dgm:prSet presAssocID="{B72EAE88-72D6-446B-9AEC-1F9D402BD1D5}" presName="root1" presStyleCnt="0"/>
      <dgm:spPr/>
    </dgm:pt>
    <dgm:pt modelId="{BBE7075C-1E12-4D73-A32B-218A576978A1}" type="pres">
      <dgm:prSet presAssocID="{B72EAE88-72D6-446B-9AEC-1F9D402BD1D5}" presName="LevelOneTextNode" presStyleLbl="node0" presStyleIdx="0" presStyleCnt="1">
        <dgm:presLayoutVars>
          <dgm:chPref val="3"/>
        </dgm:presLayoutVars>
      </dgm:prSet>
      <dgm:spPr/>
      <dgm:t>
        <a:bodyPr/>
        <a:lstStyle/>
        <a:p>
          <a:endParaRPr lang="en-US"/>
        </a:p>
      </dgm:t>
    </dgm:pt>
    <dgm:pt modelId="{8216BFB6-21BC-41E5-8A61-10EA7BAB7FD3}" type="pres">
      <dgm:prSet presAssocID="{B72EAE88-72D6-446B-9AEC-1F9D402BD1D5}" presName="level2hierChild" presStyleCnt="0"/>
      <dgm:spPr/>
    </dgm:pt>
    <dgm:pt modelId="{34FB3CD9-8045-4E7C-863C-B6F0805E23D9}" type="pres">
      <dgm:prSet presAssocID="{0D9D62B6-B97E-4D1F-AF97-598FF9EE276B}" presName="conn2-1" presStyleLbl="parChTrans1D2" presStyleIdx="0" presStyleCnt="3"/>
      <dgm:spPr/>
      <dgm:t>
        <a:bodyPr/>
        <a:lstStyle/>
        <a:p>
          <a:endParaRPr lang="en-US"/>
        </a:p>
      </dgm:t>
    </dgm:pt>
    <dgm:pt modelId="{6F2AF248-E931-4544-BF7A-5B89E7425B60}" type="pres">
      <dgm:prSet presAssocID="{0D9D62B6-B97E-4D1F-AF97-598FF9EE276B}" presName="connTx" presStyleLbl="parChTrans1D2" presStyleIdx="0" presStyleCnt="3"/>
      <dgm:spPr/>
      <dgm:t>
        <a:bodyPr/>
        <a:lstStyle/>
        <a:p>
          <a:endParaRPr lang="en-US"/>
        </a:p>
      </dgm:t>
    </dgm:pt>
    <dgm:pt modelId="{81C0A222-96F7-4340-9C6E-6C20860B7A4B}" type="pres">
      <dgm:prSet presAssocID="{9E3C0A05-866A-4707-8C2B-2F6F3A23B7F0}" presName="root2" presStyleCnt="0"/>
      <dgm:spPr/>
    </dgm:pt>
    <dgm:pt modelId="{A0AE6A10-BB0B-493A-8064-53AAE9A7A24B}" type="pres">
      <dgm:prSet presAssocID="{9E3C0A05-866A-4707-8C2B-2F6F3A23B7F0}" presName="LevelTwoTextNode" presStyleLbl="node2" presStyleIdx="0" presStyleCnt="3" custScaleX="132160">
        <dgm:presLayoutVars>
          <dgm:chPref val="3"/>
        </dgm:presLayoutVars>
      </dgm:prSet>
      <dgm:spPr/>
      <dgm:t>
        <a:bodyPr/>
        <a:lstStyle/>
        <a:p>
          <a:endParaRPr lang="en-US"/>
        </a:p>
      </dgm:t>
    </dgm:pt>
    <dgm:pt modelId="{9B0F06D5-394B-4473-A7BE-E086B31C5416}" type="pres">
      <dgm:prSet presAssocID="{9E3C0A05-866A-4707-8C2B-2F6F3A23B7F0}" presName="level3hierChild" presStyleCnt="0"/>
      <dgm:spPr/>
    </dgm:pt>
    <dgm:pt modelId="{F0AF3C3F-164B-4B4E-B4FD-49A908791C9D}" type="pres">
      <dgm:prSet presAssocID="{D4124316-ECA0-42EA-A1CC-025F35302909}" presName="conn2-1" presStyleLbl="parChTrans1D2" presStyleIdx="1" presStyleCnt="3"/>
      <dgm:spPr/>
      <dgm:t>
        <a:bodyPr/>
        <a:lstStyle/>
        <a:p>
          <a:endParaRPr lang="en-US"/>
        </a:p>
      </dgm:t>
    </dgm:pt>
    <dgm:pt modelId="{5B8DBA2D-BC56-42F0-AC38-17961F7B3866}" type="pres">
      <dgm:prSet presAssocID="{D4124316-ECA0-42EA-A1CC-025F35302909}" presName="connTx" presStyleLbl="parChTrans1D2" presStyleIdx="1" presStyleCnt="3"/>
      <dgm:spPr/>
      <dgm:t>
        <a:bodyPr/>
        <a:lstStyle/>
        <a:p>
          <a:endParaRPr lang="en-US"/>
        </a:p>
      </dgm:t>
    </dgm:pt>
    <dgm:pt modelId="{C692480E-BFAF-4989-9C50-24F98CD5D31C}" type="pres">
      <dgm:prSet presAssocID="{DAFA1321-E845-4ABC-8A61-EF288F1B910B}" presName="root2" presStyleCnt="0"/>
      <dgm:spPr/>
    </dgm:pt>
    <dgm:pt modelId="{02A11E44-B481-486D-B75A-8C265EAF39F8}" type="pres">
      <dgm:prSet presAssocID="{DAFA1321-E845-4ABC-8A61-EF288F1B910B}" presName="LevelTwoTextNode" presStyleLbl="node2" presStyleIdx="1" presStyleCnt="3" custScaleX="135410">
        <dgm:presLayoutVars>
          <dgm:chPref val="3"/>
        </dgm:presLayoutVars>
      </dgm:prSet>
      <dgm:spPr/>
      <dgm:t>
        <a:bodyPr/>
        <a:lstStyle/>
        <a:p>
          <a:endParaRPr lang="en-US"/>
        </a:p>
      </dgm:t>
    </dgm:pt>
    <dgm:pt modelId="{5274C208-73D8-4436-96A4-6C80B85CF6C0}" type="pres">
      <dgm:prSet presAssocID="{DAFA1321-E845-4ABC-8A61-EF288F1B910B}" presName="level3hierChild" presStyleCnt="0"/>
      <dgm:spPr/>
    </dgm:pt>
    <dgm:pt modelId="{E897EE5B-8B3E-4B7A-8145-8D67C466A31D}" type="pres">
      <dgm:prSet presAssocID="{ECF12672-59AC-4D94-B0B4-8BA75A522824}" presName="conn2-1" presStyleLbl="parChTrans1D2" presStyleIdx="2" presStyleCnt="3"/>
      <dgm:spPr/>
      <dgm:t>
        <a:bodyPr/>
        <a:lstStyle/>
        <a:p>
          <a:endParaRPr lang="en-US"/>
        </a:p>
      </dgm:t>
    </dgm:pt>
    <dgm:pt modelId="{F1D2E03D-015B-4575-8965-DC315EAC1E9C}" type="pres">
      <dgm:prSet presAssocID="{ECF12672-59AC-4D94-B0B4-8BA75A522824}" presName="connTx" presStyleLbl="parChTrans1D2" presStyleIdx="2" presStyleCnt="3"/>
      <dgm:spPr/>
      <dgm:t>
        <a:bodyPr/>
        <a:lstStyle/>
        <a:p>
          <a:endParaRPr lang="en-US"/>
        </a:p>
      </dgm:t>
    </dgm:pt>
    <dgm:pt modelId="{798CF42D-9179-48C1-8C30-750F8DF9C7DF}" type="pres">
      <dgm:prSet presAssocID="{D2D95FBA-0873-4B90-AB57-456F52019DF7}" presName="root2" presStyleCnt="0"/>
      <dgm:spPr/>
    </dgm:pt>
    <dgm:pt modelId="{3CEAA854-702C-414B-A042-9C09D68185B2}" type="pres">
      <dgm:prSet presAssocID="{D2D95FBA-0873-4B90-AB57-456F52019DF7}" presName="LevelTwoTextNode" presStyleLbl="node2" presStyleIdx="2" presStyleCnt="3" custScaleX="126499">
        <dgm:presLayoutVars>
          <dgm:chPref val="3"/>
        </dgm:presLayoutVars>
      </dgm:prSet>
      <dgm:spPr/>
      <dgm:t>
        <a:bodyPr/>
        <a:lstStyle/>
        <a:p>
          <a:endParaRPr lang="en-US"/>
        </a:p>
      </dgm:t>
    </dgm:pt>
    <dgm:pt modelId="{42C97559-A113-46A0-9986-7884A726CA7A}" type="pres">
      <dgm:prSet presAssocID="{D2D95FBA-0873-4B90-AB57-456F52019DF7}" presName="level3hierChild" presStyleCnt="0"/>
      <dgm:spPr/>
    </dgm:pt>
  </dgm:ptLst>
  <dgm:cxnLst>
    <dgm:cxn modelId="{F117C858-F272-40DB-AC54-84FD353D2274}" type="presOf" srcId="{9E3C0A05-866A-4707-8C2B-2F6F3A23B7F0}" destId="{A0AE6A10-BB0B-493A-8064-53AAE9A7A24B}" srcOrd="0" destOrd="0" presId="urn:microsoft.com/office/officeart/2008/layout/HorizontalMultiLevelHierarchy"/>
    <dgm:cxn modelId="{92E818A2-ADE9-4190-ACFC-49FF76EC97CE}" type="presOf" srcId="{0D9D62B6-B97E-4D1F-AF97-598FF9EE276B}" destId="{6F2AF248-E931-4544-BF7A-5B89E7425B60}" srcOrd="1" destOrd="0" presId="urn:microsoft.com/office/officeart/2008/layout/HorizontalMultiLevelHierarchy"/>
    <dgm:cxn modelId="{A1EE4152-DF8F-4BC2-AB76-CE6E7CADBF61}" type="presOf" srcId="{89B3562B-97B3-42F1-9BA3-204DB3D24791}" destId="{5343778B-0DAD-40B8-9267-6A422784C623}" srcOrd="0" destOrd="0" presId="urn:microsoft.com/office/officeart/2008/layout/HorizontalMultiLevelHierarchy"/>
    <dgm:cxn modelId="{7997DED6-36BB-47A8-9F64-51C211EE5B83}" srcId="{B72EAE88-72D6-446B-9AEC-1F9D402BD1D5}" destId="{DAFA1321-E845-4ABC-8A61-EF288F1B910B}" srcOrd="1" destOrd="0" parTransId="{D4124316-ECA0-42EA-A1CC-025F35302909}" sibTransId="{FB4B25E0-6FEA-42EC-AB0B-60442BCE30AF}"/>
    <dgm:cxn modelId="{D12159E1-A2FD-4950-8457-877063E80AFC}" srcId="{89B3562B-97B3-42F1-9BA3-204DB3D24791}" destId="{B72EAE88-72D6-446B-9AEC-1F9D402BD1D5}" srcOrd="0" destOrd="0" parTransId="{3E4EB7F8-D7CA-4CDA-91B9-4D292A79A006}" sibTransId="{980397A0-453D-479A-BEA3-7833BEA10D60}"/>
    <dgm:cxn modelId="{BBF54190-5E22-4C55-ACE5-D0046D55AED6}" type="presOf" srcId="{D4124316-ECA0-42EA-A1CC-025F35302909}" destId="{F0AF3C3F-164B-4B4E-B4FD-49A908791C9D}" srcOrd="0" destOrd="0" presId="urn:microsoft.com/office/officeart/2008/layout/HorizontalMultiLevelHierarchy"/>
    <dgm:cxn modelId="{958850DC-64CD-4B61-8CF5-7C0780BBCA08}" type="presOf" srcId="{ECF12672-59AC-4D94-B0B4-8BA75A522824}" destId="{F1D2E03D-015B-4575-8965-DC315EAC1E9C}" srcOrd="1" destOrd="0" presId="urn:microsoft.com/office/officeart/2008/layout/HorizontalMultiLevelHierarchy"/>
    <dgm:cxn modelId="{3E5AD79B-0757-4C04-B250-16622F024B17}" type="presOf" srcId="{B72EAE88-72D6-446B-9AEC-1F9D402BD1D5}" destId="{BBE7075C-1E12-4D73-A32B-218A576978A1}" srcOrd="0" destOrd="0" presId="urn:microsoft.com/office/officeart/2008/layout/HorizontalMultiLevelHierarchy"/>
    <dgm:cxn modelId="{9588054E-56DF-4D66-B21C-464226154B68}" srcId="{B72EAE88-72D6-446B-9AEC-1F9D402BD1D5}" destId="{D2D95FBA-0873-4B90-AB57-456F52019DF7}" srcOrd="2" destOrd="0" parTransId="{ECF12672-59AC-4D94-B0B4-8BA75A522824}" sibTransId="{CCD37B53-2BAE-4A11-A0DF-FDF79C4ED4E2}"/>
    <dgm:cxn modelId="{9CC19AD1-1596-47F9-A31A-DD393088B0F3}" type="presOf" srcId="{0D9D62B6-B97E-4D1F-AF97-598FF9EE276B}" destId="{34FB3CD9-8045-4E7C-863C-B6F0805E23D9}" srcOrd="0" destOrd="0" presId="urn:microsoft.com/office/officeart/2008/layout/HorizontalMultiLevelHierarchy"/>
    <dgm:cxn modelId="{0D9D431C-1A49-4ED5-8996-3E7D959EF622}" type="presOf" srcId="{D2D95FBA-0873-4B90-AB57-456F52019DF7}" destId="{3CEAA854-702C-414B-A042-9C09D68185B2}" srcOrd="0" destOrd="0" presId="urn:microsoft.com/office/officeart/2008/layout/HorizontalMultiLevelHierarchy"/>
    <dgm:cxn modelId="{DD495B63-8BD5-4EBA-8591-C7015ED39097}" srcId="{B72EAE88-72D6-446B-9AEC-1F9D402BD1D5}" destId="{9E3C0A05-866A-4707-8C2B-2F6F3A23B7F0}" srcOrd="0" destOrd="0" parTransId="{0D9D62B6-B97E-4D1F-AF97-598FF9EE276B}" sibTransId="{A39C01AD-9EB5-48A3-AC07-E97D78134234}"/>
    <dgm:cxn modelId="{EA9A66D0-08CB-4F3F-854D-B06EDA29093D}" type="presOf" srcId="{DAFA1321-E845-4ABC-8A61-EF288F1B910B}" destId="{02A11E44-B481-486D-B75A-8C265EAF39F8}" srcOrd="0" destOrd="0" presId="urn:microsoft.com/office/officeart/2008/layout/HorizontalMultiLevelHierarchy"/>
    <dgm:cxn modelId="{C32E18AE-1167-4CD1-B578-AFFD49B228B1}" type="presOf" srcId="{ECF12672-59AC-4D94-B0B4-8BA75A522824}" destId="{E897EE5B-8B3E-4B7A-8145-8D67C466A31D}" srcOrd="0" destOrd="0" presId="urn:microsoft.com/office/officeart/2008/layout/HorizontalMultiLevelHierarchy"/>
    <dgm:cxn modelId="{88B92852-806F-4B2F-95F3-613ED7EC3E95}" type="presOf" srcId="{D4124316-ECA0-42EA-A1CC-025F35302909}" destId="{5B8DBA2D-BC56-42F0-AC38-17961F7B3866}" srcOrd="1" destOrd="0" presId="urn:microsoft.com/office/officeart/2008/layout/HorizontalMultiLevelHierarchy"/>
    <dgm:cxn modelId="{4FEB3A79-A4B2-4A62-9E34-DE279992DD74}" type="presParOf" srcId="{5343778B-0DAD-40B8-9267-6A422784C623}" destId="{2D98262B-6C0B-4DD8-BE0C-0C926699CDC9}" srcOrd="0" destOrd="0" presId="urn:microsoft.com/office/officeart/2008/layout/HorizontalMultiLevelHierarchy"/>
    <dgm:cxn modelId="{93EAAF51-7F75-4753-AD83-C57E56EDAAA5}" type="presParOf" srcId="{2D98262B-6C0B-4DD8-BE0C-0C926699CDC9}" destId="{BBE7075C-1E12-4D73-A32B-218A576978A1}" srcOrd="0" destOrd="0" presId="urn:microsoft.com/office/officeart/2008/layout/HorizontalMultiLevelHierarchy"/>
    <dgm:cxn modelId="{CCBFA9D9-D743-4F57-9F63-2909A13E3442}" type="presParOf" srcId="{2D98262B-6C0B-4DD8-BE0C-0C926699CDC9}" destId="{8216BFB6-21BC-41E5-8A61-10EA7BAB7FD3}" srcOrd="1" destOrd="0" presId="urn:microsoft.com/office/officeart/2008/layout/HorizontalMultiLevelHierarchy"/>
    <dgm:cxn modelId="{3324A142-5CFA-477F-9DA7-40F8C853B506}" type="presParOf" srcId="{8216BFB6-21BC-41E5-8A61-10EA7BAB7FD3}" destId="{34FB3CD9-8045-4E7C-863C-B6F0805E23D9}" srcOrd="0" destOrd="0" presId="urn:microsoft.com/office/officeart/2008/layout/HorizontalMultiLevelHierarchy"/>
    <dgm:cxn modelId="{04C67C33-CAC5-40F2-9B98-1C1C31CCFEBF}" type="presParOf" srcId="{34FB3CD9-8045-4E7C-863C-B6F0805E23D9}" destId="{6F2AF248-E931-4544-BF7A-5B89E7425B60}" srcOrd="0" destOrd="0" presId="urn:microsoft.com/office/officeart/2008/layout/HorizontalMultiLevelHierarchy"/>
    <dgm:cxn modelId="{A0DD8087-3591-44F8-B241-651450D9A640}" type="presParOf" srcId="{8216BFB6-21BC-41E5-8A61-10EA7BAB7FD3}" destId="{81C0A222-96F7-4340-9C6E-6C20860B7A4B}" srcOrd="1" destOrd="0" presId="urn:microsoft.com/office/officeart/2008/layout/HorizontalMultiLevelHierarchy"/>
    <dgm:cxn modelId="{EB5A5DC0-BB17-4D7A-9ED3-99729382848C}" type="presParOf" srcId="{81C0A222-96F7-4340-9C6E-6C20860B7A4B}" destId="{A0AE6A10-BB0B-493A-8064-53AAE9A7A24B}" srcOrd="0" destOrd="0" presId="urn:microsoft.com/office/officeart/2008/layout/HorizontalMultiLevelHierarchy"/>
    <dgm:cxn modelId="{714B0C32-390A-4742-98EC-CEA1BE008197}" type="presParOf" srcId="{81C0A222-96F7-4340-9C6E-6C20860B7A4B}" destId="{9B0F06D5-394B-4473-A7BE-E086B31C5416}" srcOrd="1" destOrd="0" presId="urn:microsoft.com/office/officeart/2008/layout/HorizontalMultiLevelHierarchy"/>
    <dgm:cxn modelId="{0E28E1B8-3061-4302-AA37-F35D80A0E94D}" type="presParOf" srcId="{8216BFB6-21BC-41E5-8A61-10EA7BAB7FD3}" destId="{F0AF3C3F-164B-4B4E-B4FD-49A908791C9D}" srcOrd="2" destOrd="0" presId="urn:microsoft.com/office/officeart/2008/layout/HorizontalMultiLevelHierarchy"/>
    <dgm:cxn modelId="{5CD640E6-FEC3-40A5-A664-2F190452D69B}" type="presParOf" srcId="{F0AF3C3F-164B-4B4E-B4FD-49A908791C9D}" destId="{5B8DBA2D-BC56-42F0-AC38-17961F7B3866}" srcOrd="0" destOrd="0" presId="urn:microsoft.com/office/officeart/2008/layout/HorizontalMultiLevelHierarchy"/>
    <dgm:cxn modelId="{E64DD80F-08A6-471E-865F-6FCFAF9F18F2}" type="presParOf" srcId="{8216BFB6-21BC-41E5-8A61-10EA7BAB7FD3}" destId="{C692480E-BFAF-4989-9C50-24F98CD5D31C}" srcOrd="3" destOrd="0" presId="urn:microsoft.com/office/officeart/2008/layout/HorizontalMultiLevelHierarchy"/>
    <dgm:cxn modelId="{7788E88B-0079-41CD-842C-F7F8FFC5225E}" type="presParOf" srcId="{C692480E-BFAF-4989-9C50-24F98CD5D31C}" destId="{02A11E44-B481-486D-B75A-8C265EAF39F8}" srcOrd="0" destOrd="0" presId="urn:microsoft.com/office/officeart/2008/layout/HorizontalMultiLevelHierarchy"/>
    <dgm:cxn modelId="{8A9413FD-B21C-45A7-B1A7-A16AEB0053C3}" type="presParOf" srcId="{C692480E-BFAF-4989-9C50-24F98CD5D31C}" destId="{5274C208-73D8-4436-96A4-6C80B85CF6C0}" srcOrd="1" destOrd="0" presId="urn:microsoft.com/office/officeart/2008/layout/HorizontalMultiLevelHierarchy"/>
    <dgm:cxn modelId="{CD4B023E-1941-48F9-A937-E9E309709F0E}" type="presParOf" srcId="{8216BFB6-21BC-41E5-8A61-10EA7BAB7FD3}" destId="{E897EE5B-8B3E-4B7A-8145-8D67C466A31D}" srcOrd="4" destOrd="0" presId="urn:microsoft.com/office/officeart/2008/layout/HorizontalMultiLevelHierarchy"/>
    <dgm:cxn modelId="{7E498FEF-188C-4CAD-9078-250262383FFE}" type="presParOf" srcId="{E897EE5B-8B3E-4B7A-8145-8D67C466A31D}" destId="{F1D2E03D-015B-4575-8965-DC315EAC1E9C}" srcOrd="0" destOrd="0" presId="urn:microsoft.com/office/officeart/2008/layout/HorizontalMultiLevelHierarchy"/>
    <dgm:cxn modelId="{A850AB8A-3D55-4DCA-A988-E219BF3BD13C}" type="presParOf" srcId="{8216BFB6-21BC-41E5-8A61-10EA7BAB7FD3}" destId="{798CF42D-9179-48C1-8C30-750F8DF9C7DF}" srcOrd="5" destOrd="0" presId="urn:microsoft.com/office/officeart/2008/layout/HorizontalMultiLevelHierarchy"/>
    <dgm:cxn modelId="{4AEE049E-9652-4B38-BF3B-ED3EEA92CB0F}" type="presParOf" srcId="{798CF42D-9179-48C1-8C30-750F8DF9C7DF}" destId="{3CEAA854-702C-414B-A042-9C09D68185B2}" srcOrd="0" destOrd="0" presId="urn:microsoft.com/office/officeart/2008/layout/HorizontalMultiLevelHierarchy"/>
    <dgm:cxn modelId="{30DF1A73-972A-4901-B54F-9FC47B4C0DAC}" type="presParOf" srcId="{798CF42D-9179-48C1-8C30-750F8DF9C7DF}" destId="{42C97559-A113-46A0-9986-7884A726CA7A}"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23B19A-3A23-4E15-80B3-E60D68C1E6A1}" type="doc">
      <dgm:prSet loTypeId="urn:microsoft.com/office/officeart/2005/8/layout/radial6" loCatId="cycle" qsTypeId="urn:microsoft.com/office/officeart/2005/8/quickstyle/simple1" qsCatId="simple" csTypeId="urn:microsoft.com/office/officeart/2005/8/colors/colorful5" csCatId="colorful" phldr="1"/>
      <dgm:spPr/>
      <dgm:t>
        <a:bodyPr/>
        <a:lstStyle/>
        <a:p>
          <a:endParaRPr lang="en-US"/>
        </a:p>
      </dgm:t>
    </dgm:pt>
    <dgm:pt modelId="{310B5078-3FD6-4D18-93ED-AAAF2EEEB306}">
      <dgm:prSet phldrT="[Text]"/>
      <dgm:spPr/>
      <dgm:t>
        <a:bodyPr/>
        <a:lstStyle/>
        <a:p>
          <a:r>
            <a:rPr lang="en-US" b="1" dirty="0">
              <a:solidFill>
                <a:schemeClr val="tx1"/>
              </a:solidFill>
            </a:rPr>
            <a:t>Training Process</a:t>
          </a:r>
        </a:p>
      </dgm:t>
    </dgm:pt>
    <dgm:pt modelId="{BD8D0127-6624-41DA-B6CA-17010567E1B2}" type="parTrans" cxnId="{CF55BD75-3DDB-4436-85E2-86E2E1502F0E}">
      <dgm:prSet/>
      <dgm:spPr/>
      <dgm:t>
        <a:bodyPr/>
        <a:lstStyle/>
        <a:p>
          <a:endParaRPr lang="en-US"/>
        </a:p>
      </dgm:t>
    </dgm:pt>
    <dgm:pt modelId="{0EED1050-8C8D-4678-BCE9-797B41BB812B}" type="sibTrans" cxnId="{CF55BD75-3DDB-4436-85E2-86E2E1502F0E}">
      <dgm:prSet/>
      <dgm:spPr/>
      <dgm:t>
        <a:bodyPr/>
        <a:lstStyle/>
        <a:p>
          <a:endParaRPr lang="en-US"/>
        </a:p>
      </dgm:t>
    </dgm:pt>
    <dgm:pt modelId="{BC9A9E55-999A-4AD5-9041-1D1AC8866169}">
      <dgm:prSet phldrT="[Text]" custT="1"/>
      <dgm:spPr/>
      <dgm:t>
        <a:bodyPr/>
        <a:lstStyle/>
        <a:p>
          <a:r>
            <a:rPr lang="en-GB" sz="950" b="1" dirty="0">
              <a:solidFill>
                <a:schemeClr val="tx1"/>
              </a:solidFill>
            </a:rPr>
            <a:t>Loss Functions</a:t>
          </a:r>
          <a:endParaRPr lang="en-US" sz="950" dirty="0">
            <a:solidFill>
              <a:schemeClr val="tx1"/>
            </a:solidFill>
          </a:endParaRPr>
        </a:p>
      </dgm:t>
    </dgm:pt>
    <dgm:pt modelId="{D882D287-C551-49F3-B1A4-125178026700}" type="parTrans" cxnId="{0B67051F-200A-4208-8670-DAD35130F17F}">
      <dgm:prSet/>
      <dgm:spPr/>
      <dgm:t>
        <a:bodyPr/>
        <a:lstStyle/>
        <a:p>
          <a:endParaRPr lang="en-US"/>
        </a:p>
      </dgm:t>
    </dgm:pt>
    <dgm:pt modelId="{8705486E-61A7-4159-B32B-1886AF2D843F}" type="sibTrans" cxnId="{0B67051F-200A-4208-8670-DAD35130F17F}">
      <dgm:prSet/>
      <dgm:spPr/>
      <dgm:t>
        <a:bodyPr/>
        <a:lstStyle/>
        <a:p>
          <a:endParaRPr lang="en-US"/>
        </a:p>
      </dgm:t>
    </dgm:pt>
    <dgm:pt modelId="{25E0483C-85FC-466D-A349-EE768F64D508}">
      <dgm:prSet phldrT="[Text]" custT="1"/>
      <dgm:spPr/>
      <dgm:t>
        <a:bodyPr/>
        <a:lstStyle/>
        <a:p>
          <a:r>
            <a:rPr lang="en-GB" sz="800" b="1" dirty="0">
              <a:solidFill>
                <a:schemeClr val="tx1"/>
              </a:solidFill>
            </a:rPr>
            <a:t>Optimization Algorithms</a:t>
          </a:r>
          <a:endParaRPr lang="en-US" sz="800" dirty="0">
            <a:solidFill>
              <a:schemeClr val="tx1"/>
            </a:solidFill>
          </a:endParaRPr>
        </a:p>
      </dgm:t>
    </dgm:pt>
    <dgm:pt modelId="{BCF7FB24-8820-478B-901D-7C0BBDFE4BE9}" type="parTrans" cxnId="{4E2CA594-51E8-4B7E-AF64-F4106D0C6E86}">
      <dgm:prSet/>
      <dgm:spPr/>
      <dgm:t>
        <a:bodyPr/>
        <a:lstStyle/>
        <a:p>
          <a:endParaRPr lang="en-US"/>
        </a:p>
      </dgm:t>
    </dgm:pt>
    <dgm:pt modelId="{215BF889-9B4C-486D-9636-BBB08151B673}" type="sibTrans" cxnId="{4E2CA594-51E8-4B7E-AF64-F4106D0C6E86}">
      <dgm:prSet/>
      <dgm:spPr/>
      <dgm:t>
        <a:bodyPr/>
        <a:lstStyle/>
        <a:p>
          <a:endParaRPr lang="en-US"/>
        </a:p>
      </dgm:t>
    </dgm:pt>
    <dgm:pt modelId="{14D28520-A4AE-463C-900A-883E30711CB0}">
      <dgm:prSet phldrT="[Text]" custT="1"/>
      <dgm:spPr/>
      <dgm:t>
        <a:bodyPr/>
        <a:lstStyle/>
        <a:p>
          <a:r>
            <a:rPr lang="en-GB" sz="800" b="1" dirty="0">
              <a:solidFill>
                <a:schemeClr val="tx1"/>
              </a:solidFill>
            </a:rPr>
            <a:t>Model Training and Validation</a:t>
          </a:r>
          <a:endParaRPr lang="en-US" sz="800" dirty="0">
            <a:solidFill>
              <a:schemeClr val="tx1"/>
            </a:solidFill>
          </a:endParaRPr>
        </a:p>
      </dgm:t>
    </dgm:pt>
    <dgm:pt modelId="{D971D47A-7AC0-49DC-BE6C-294BF23938BF}" type="parTrans" cxnId="{2E633D4A-5066-4E21-ADB7-44C815BA4C90}">
      <dgm:prSet/>
      <dgm:spPr/>
      <dgm:t>
        <a:bodyPr/>
        <a:lstStyle/>
        <a:p>
          <a:endParaRPr lang="en-US"/>
        </a:p>
      </dgm:t>
    </dgm:pt>
    <dgm:pt modelId="{F81AB535-5715-4858-A92B-B0693FF9EC10}" type="sibTrans" cxnId="{2E633D4A-5066-4E21-ADB7-44C815BA4C90}">
      <dgm:prSet/>
      <dgm:spPr/>
      <dgm:t>
        <a:bodyPr/>
        <a:lstStyle/>
        <a:p>
          <a:endParaRPr lang="en-US"/>
        </a:p>
      </dgm:t>
    </dgm:pt>
    <dgm:pt modelId="{B355350F-090B-4AF3-BBEE-F3371D3655D6}" type="pres">
      <dgm:prSet presAssocID="{EA23B19A-3A23-4E15-80B3-E60D68C1E6A1}" presName="Name0" presStyleCnt="0">
        <dgm:presLayoutVars>
          <dgm:chMax val="1"/>
          <dgm:dir/>
          <dgm:animLvl val="ctr"/>
          <dgm:resizeHandles val="exact"/>
        </dgm:presLayoutVars>
      </dgm:prSet>
      <dgm:spPr/>
      <dgm:t>
        <a:bodyPr/>
        <a:lstStyle/>
        <a:p>
          <a:endParaRPr lang="en-US"/>
        </a:p>
      </dgm:t>
    </dgm:pt>
    <dgm:pt modelId="{B7F95D2E-1490-4D8E-8AB6-C1B035332EAD}" type="pres">
      <dgm:prSet presAssocID="{310B5078-3FD6-4D18-93ED-AAAF2EEEB306}" presName="centerShape" presStyleLbl="node0" presStyleIdx="0" presStyleCnt="1"/>
      <dgm:spPr/>
      <dgm:t>
        <a:bodyPr/>
        <a:lstStyle/>
        <a:p>
          <a:endParaRPr lang="en-US"/>
        </a:p>
      </dgm:t>
    </dgm:pt>
    <dgm:pt modelId="{4B4EB2D0-81D9-4B2F-9901-B03B9BF9E358}" type="pres">
      <dgm:prSet presAssocID="{BC9A9E55-999A-4AD5-9041-1D1AC8866169}" presName="node" presStyleLbl="node1" presStyleIdx="0" presStyleCnt="3">
        <dgm:presLayoutVars>
          <dgm:bulletEnabled val="1"/>
        </dgm:presLayoutVars>
      </dgm:prSet>
      <dgm:spPr/>
      <dgm:t>
        <a:bodyPr/>
        <a:lstStyle/>
        <a:p>
          <a:endParaRPr lang="en-US"/>
        </a:p>
      </dgm:t>
    </dgm:pt>
    <dgm:pt modelId="{8FBD5706-AD6C-4CED-B973-FE3703D3BEC0}" type="pres">
      <dgm:prSet presAssocID="{BC9A9E55-999A-4AD5-9041-1D1AC8866169}" presName="dummy" presStyleCnt="0"/>
      <dgm:spPr/>
    </dgm:pt>
    <dgm:pt modelId="{D13F1A73-8D8B-4533-8E21-BCFDF0AFB2FD}" type="pres">
      <dgm:prSet presAssocID="{8705486E-61A7-4159-B32B-1886AF2D843F}" presName="sibTrans" presStyleLbl="sibTrans2D1" presStyleIdx="0" presStyleCnt="3"/>
      <dgm:spPr/>
      <dgm:t>
        <a:bodyPr/>
        <a:lstStyle/>
        <a:p>
          <a:endParaRPr lang="en-US"/>
        </a:p>
      </dgm:t>
    </dgm:pt>
    <dgm:pt modelId="{5EC0F887-05B5-47C2-A479-FF655BB0CAFC}" type="pres">
      <dgm:prSet presAssocID="{25E0483C-85FC-466D-A349-EE768F64D508}" presName="node" presStyleLbl="node1" presStyleIdx="1" presStyleCnt="3" custScaleX="127405">
        <dgm:presLayoutVars>
          <dgm:bulletEnabled val="1"/>
        </dgm:presLayoutVars>
      </dgm:prSet>
      <dgm:spPr/>
      <dgm:t>
        <a:bodyPr/>
        <a:lstStyle/>
        <a:p>
          <a:endParaRPr lang="en-US"/>
        </a:p>
      </dgm:t>
    </dgm:pt>
    <dgm:pt modelId="{E7DA98EB-8E3C-4BE9-BBA2-BDB81EAD53D5}" type="pres">
      <dgm:prSet presAssocID="{25E0483C-85FC-466D-A349-EE768F64D508}" presName="dummy" presStyleCnt="0"/>
      <dgm:spPr/>
    </dgm:pt>
    <dgm:pt modelId="{2DFC6AA2-74A6-4D57-AC15-B70A6F971543}" type="pres">
      <dgm:prSet presAssocID="{215BF889-9B4C-486D-9636-BBB08151B673}" presName="sibTrans" presStyleLbl="sibTrans2D1" presStyleIdx="1" presStyleCnt="3"/>
      <dgm:spPr/>
      <dgm:t>
        <a:bodyPr/>
        <a:lstStyle/>
        <a:p>
          <a:endParaRPr lang="en-US"/>
        </a:p>
      </dgm:t>
    </dgm:pt>
    <dgm:pt modelId="{124A5C7D-6EB0-4B01-A596-F9387CB7E21E}" type="pres">
      <dgm:prSet presAssocID="{14D28520-A4AE-463C-900A-883E30711CB0}" presName="node" presStyleLbl="node1" presStyleIdx="2" presStyleCnt="3" custScaleX="120006">
        <dgm:presLayoutVars>
          <dgm:bulletEnabled val="1"/>
        </dgm:presLayoutVars>
      </dgm:prSet>
      <dgm:spPr/>
      <dgm:t>
        <a:bodyPr/>
        <a:lstStyle/>
        <a:p>
          <a:endParaRPr lang="en-US"/>
        </a:p>
      </dgm:t>
    </dgm:pt>
    <dgm:pt modelId="{44E8E527-77D3-4887-B24D-C015464D4236}" type="pres">
      <dgm:prSet presAssocID="{14D28520-A4AE-463C-900A-883E30711CB0}" presName="dummy" presStyleCnt="0"/>
      <dgm:spPr/>
    </dgm:pt>
    <dgm:pt modelId="{01851E00-5D65-4B66-9DF9-D57E496AA7C4}" type="pres">
      <dgm:prSet presAssocID="{F81AB535-5715-4858-A92B-B0693FF9EC10}" presName="sibTrans" presStyleLbl="sibTrans2D1" presStyleIdx="2" presStyleCnt="3"/>
      <dgm:spPr/>
      <dgm:t>
        <a:bodyPr/>
        <a:lstStyle/>
        <a:p>
          <a:endParaRPr lang="en-US"/>
        </a:p>
      </dgm:t>
    </dgm:pt>
  </dgm:ptLst>
  <dgm:cxnLst>
    <dgm:cxn modelId="{4E2CA594-51E8-4B7E-AF64-F4106D0C6E86}" srcId="{310B5078-3FD6-4D18-93ED-AAAF2EEEB306}" destId="{25E0483C-85FC-466D-A349-EE768F64D508}" srcOrd="1" destOrd="0" parTransId="{BCF7FB24-8820-478B-901D-7C0BBDFE4BE9}" sibTransId="{215BF889-9B4C-486D-9636-BBB08151B673}"/>
    <dgm:cxn modelId="{A02B0AD4-C2F1-47CB-88DF-EB78DEA00E51}" type="presOf" srcId="{EA23B19A-3A23-4E15-80B3-E60D68C1E6A1}" destId="{B355350F-090B-4AF3-BBEE-F3371D3655D6}" srcOrd="0" destOrd="0" presId="urn:microsoft.com/office/officeart/2005/8/layout/radial6"/>
    <dgm:cxn modelId="{1F25E222-2F2B-487D-83B7-666E9A50D8D9}" type="presOf" srcId="{310B5078-3FD6-4D18-93ED-AAAF2EEEB306}" destId="{B7F95D2E-1490-4D8E-8AB6-C1B035332EAD}" srcOrd="0" destOrd="0" presId="urn:microsoft.com/office/officeart/2005/8/layout/radial6"/>
    <dgm:cxn modelId="{17BB11CE-2DB6-416A-8922-AE1AC5079047}" type="presOf" srcId="{14D28520-A4AE-463C-900A-883E30711CB0}" destId="{124A5C7D-6EB0-4B01-A596-F9387CB7E21E}" srcOrd="0" destOrd="0" presId="urn:microsoft.com/office/officeart/2005/8/layout/radial6"/>
    <dgm:cxn modelId="{45254A25-4A72-4A1F-88BA-277BEEB4AB80}" type="presOf" srcId="{8705486E-61A7-4159-B32B-1886AF2D843F}" destId="{D13F1A73-8D8B-4533-8E21-BCFDF0AFB2FD}" srcOrd="0" destOrd="0" presId="urn:microsoft.com/office/officeart/2005/8/layout/radial6"/>
    <dgm:cxn modelId="{2E633D4A-5066-4E21-ADB7-44C815BA4C90}" srcId="{310B5078-3FD6-4D18-93ED-AAAF2EEEB306}" destId="{14D28520-A4AE-463C-900A-883E30711CB0}" srcOrd="2" destOrd="0" parTransId="{D971D47A-7AC0-49DC-BE6C-294BF23938BF}" sibTransId="{F81AB535-5715-4858-A92B-B0693FF9EC10}"/>
    <dgm:cxn modelId="{E2C341AD-2798-4B31-9840-C536F0886A18}" type="presOf" srcId="{BC9A9E55-999A-4AD5-9041-1D1AC8866169}" destId="{4B4EB2D0-81D9-4B2F-9901-B03B9BF9E358}" srcOrd="0" destOrd="0" presId="urn:microsoft.com/office/officeart/2005/8/layout/radial6"/>
    <dgm:cxn modelId="{665800AB-8C3E-4A4B-9F2C-64ACC6F2E718}" type="presOf" srcId="{F81AB535-5715-4858-A92B-B0693FF9EC10}" destId="{01851E00-5D65-4B66-9DF9-D57E496AA7C4}" srcOrd="0" destOrd="0" presId="urn:microsoft.com/office/officeart/2005/8/layout/radial6"/>
    <dgm:cxn modelId="{CF55BD75-3DDB-4436-85E2-86E2E1502F0E}" srcId="{EA23B19A-3A23-4E15-80B3-E60D68C1E6A1}" destId="{310B5078-3FD6-4D18-93ED-AAAF2EEEB306}" srcOrd="0" destOrd="0" parTransId="{BD8D0127-6624-41DA-B6CA-17010567E1B2}" sibTransId="{0EED1050-8C8D-4678-BCE9-797B41BB812B}"/>
    <dgm:cxn modelId="{3C7E4CEA-15CF-410C-99A8-96EE33EAD5BB}" type="presOf" srcId="{25E0483C-85FC-466D-A349-EE768F64D508}" destId="{5EC0F887-05B5-47C2-A479-FF655BB0CAFC}" srcOrd="0" destOrd="0" presId="urn:microsoft.com/office/officeart/2005/8/layout/radial6"/>
    <dgm:cxn modelId="{16C050BF-94A4-49D8-92EB-559AEAA44895}" type="presOf" srcId="{215BF889-9B4C-486D-9636-BBB08151B673}" destId="{2DFC6AA2-74A6-4D57-AC15-B70A6F971543}" srcOrd="0" destOrd="0" presId="urn:microsoft.com/office/officeart/2005/8/layout/radial6"/>
    <dgm:cxn modelId="{0B67051F-200A-4208-8670-DAD35130F17F}" srcId="{310B5078-3FD6-4D18-93ED-AAAF2EEEB306}" destId="{BC9A9E55-999A-4AD5-9041-1D1AC8866169}" srcOrd="0" destOrd="0" parTransId="{D882D287-C551-49F3-B1A4-125178026700}" sibTransId="{8705486E-61A7-4159-B32B-1886AF2D843F}"/>
    <dgm:cxn modelId="{77C7B14C-1CD3-4432-B796-9C8F118BF41B}" type="presParOf" srcId="{B355350F-090B-4AF3-BBEE-F3371D3655D6}" destId="{B7F95D2E-1490-4D8E-8AB6-C1B035332EAD}" srcOrd="0" destOrd="0" presId="urn:microsoft.com/office/officeart/2005/8/layout/radial6"/>
    <dgm:cxn modelId="{BDCBFB5A-BD1C-4507-AA2A-3326E430BAB7}" type="presParOf" srcId="{B355350F-090B-4AF3-BBEE-F3371D3655D6}" destId="{4B4EB2D0-81D9-4B2F-9901-B03B9BF9E358}" srcOrd="1" destOrd="0" presId="urn:microsoft.com/office/officeart/2005/8/layout/radial6"/>
    <dgm:cxn modelId="{D6C6D136-C23E-457A-9CFA-41C1D9451768}" type="presParOf" srcId="{B355350F-090B-4AF3-BBEE-F3371D3655D6}" destId="{8FBD5706-AD6C-4CED-B973-FE3703D3BEC0}" srcOrd="2" destOrd="0" presId="urn:microsoft.com/office/officeart/2005/8/layout/radial6"/>
    <dgm:cxn modelId="{53EAEF81-0396-4ACF-8F5F-6D817B6926B4}" type="presParOf" srcId="{B355350F-090B-4AF3-BBEE-F3371D3655D6}" destId="{D13F1A73-8D8B-4533-8E21-BCFDF0AFB2FD}" srcOrd="3" destOrd="0" presId="urn:microsoft.com/office/officeart/2005/8/layout/radial6"/>
    <dgm:cxn modelId="{65D41A39-2A06-476E-BEE7-A3129B9034AB}" type="presParOf" srcId="{B355350F-090B-4AF3-BBEE-F3371D3655D6}" destId="{5EC0F887-05B5-47C2-A479-FF655BB0CAFC}" srcOrd="4" destOrd="0" presId="urn:microsoft.com/office/officeart/2005/8/layout/radial6"/>
    <dgm:cxn modelId="{45093B1E-1F48-4C93-B306-4185444279FC}" type="presParOf" srcId="{B355350F-090B-4AF3-BBEE-F3371D3655D6}" destId="{E7DA98EB-8E3C-4BE9-BBA2-BDB81EAD53D5}" srcOrd="5" destOrd="0" presId="urn:microsoft.com/office/officeart/2005/8/layout/radial6"/>
    <dgm:cxn modelId="{626B2C1C-86F1-4262-AB7C-82319CA268C4}" type="presParOf" srcId="{B355350F-090B-4AF3-BBEE-F3371D3655D6}" destId="{2DFC6AA2-74A6-4D57-AC15-B70A6F971543}" srcOrd="6" destOrd="0" presId="urn:microsoft.com/office/officeart/2005/8/layout/radial6"/>
    <dgm:cxn modelId="{8112DD48-91F3-4FA8-B19B-13B0F825CD4F}" type="presParOf" srcId="{B355350F-090B-4AF3-BBEE-F3371D3655D6}" destId="{124A5C7D-6EB0-4B01-A596-F9387CB7E21E}" srcOrd="7" destOrd="0" presId="urn:microsoft.com/office/officeart/2005/8/layout/radial6"/>
    <dgm:cxn modelId="{025CFC65-D56C-4FEF-AEBE-CC1ADAD9EEE5}" type="presParOf" srcId="{B355350F-090B-4AF3-BBEE-F3371D3655D6}" destId="{44E8E527-77D3-4887-B24D-C015464D4236}" srcOrd="8" destOrd="0" presId="urn:microsoft.com/office/officeart/2005/8/layout/radial6"/>
    <dgm:cxn modelId="{3E76B785-2070-46C6-80D2-98E56E1041BC}" type="presParOf" srcId="{B355350F-090B-4AF3-BBEE-F3371D3655D6}" destId="{01851E00-5D65-4B66-9DF9-D57E496AA7C4}" srcOrd="9" destOrd="0" presId="urn:microsoft.com/office/officeart/2005/8/layout/radial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B55FA12-AACE-4BB7-88B0-438DD381C26D}" type="doc">
      <dgm:prSet loTypeId="urn:microsoft.com/office/officeart/2005/8/layout/radial3" loCatId="cycle" qsTypeId="urn:microsoft.com/office/officeart/2005/8/quickstyle/simple1" qsCatId="simple" csTypeId="urn:microsoft.com/office/officeart/2005/8/colors/colorful4" csCatId="colorful" phldr="1"/>
      <dgm:spPr/>
      <dgm:t>
        <a:bodyPr/>
        <a:lstStyle/>
        <a:p>
          <a:endParaRPr lang="en-US"/>
        </a:p>
      </dgm:t>
    </dgm:pt>
    <dgm:pt modelId="{D6B4C220-D667-4013-9B28-269D96D77BB7}">
      <dgm:prSet phldrT="[Text]"/>
      <dgm:spPr/>
      <dgm:t>
        <a:bodyPr/>
        <a:lstStyle/>
        <a:p>
          <a:r>
            <a:rPr lang="en-GB" b="1" dirty="0"/>
            <a:t>Model Evaluation</a:t>
          </a:r>
          <a:endParaRPr lang="en-US" dirty="0"/>
        </a:p>
      </dgm:t>
    </dgm:pt>
    <dgm:pt modelId="{7CA31E31-6C10-44E8-B752-8369310C96E1}" type="parTrans" cxnId="{F151F263-9F70-4871-9550-4A02B5DDC9F1}">
      <dgm:prSet/>
      <dgm:spPr/>
      <dgm:t>
        <a:bodyPr/>
        <a:lstStyle/>
        <a:p>
          <a:endParaRPr lang="en-US"/>
        </a:p>
      </dgm:t>
    </dgm:pt>
    <dgm:pt modelId="{7F18563D-1473-4312-A886-C2A6D114AF27}" type="sibTrans" cxnId="{F151F263-9F70-4871-9550-4A02B5DDC9F1}">
      <dgm:prSet/>
      <dgm:spPr/>
      <dgm:t>
        <a:bodyPr/>
        <a:lstStyle/>
        <a:p>
          <a:endParaRPr lang="en-US"/>
        </a:p>
      </dgm:t>
    </dgm:pt>
    <dgm:pt modelId="{9F7B0F70-0ADD-466C-9E73-A84BE70E9070}">
      <dgm:prSet phldrT="[Text]"/>
      <dgm:spPr/>
      <dgm:t>
        <a:bodyPr/>
        <a:lstStyle/>
        <a:p>
          <a:r>
            <a:rPr lang="en-GB" dirty="0"/>
            <a:t>Silhouette Score</a:t>
          </a:r>
          <a:endParaRPr lang="en-US" dirty="0"/>
        </a:p>
      </dgm:t>
    </dgm:pt>
    <dgm:pt modelId="{A19C651E-A6C1-47B0-A590-5F1662586C05}" type="parTrans" cxnId="{CE9FCCE5-EF5B-495A-9D6C-775BCFB11BF7}">
      <dgm:prSet/>
      <dgm:spPr/>
      <dgm:t>
        <a:bodyPr/>
        <a:lstStyle/>
        <a:p>
          <a:endParaRPr lang="en-US"/>
        </a:p>
      </dgm:t>
    </dgm:pt>
    <dgm:pt modelId="{8CCFA99E-85AA-4C47-8787-8C0679E17D62}" type="sibTrans" cxnId="{CE9FCCE5-EF5B-495A-9D6C-775BCFB11BF7}">
      <dgm:prSet/>
      <dgm:spPr/>
      <dgm:t>
        <a:bodyPr/>
        <a:lstStyle/>
        <a:p>
          <a:endParaRPr lang="en-US"/>
        </a:p>
      </dgm:t>
    </dgm:pt>
    <dgm:pt modelId="{FE4ED6A8-6865-462E-A522-B59723748F0D}">
      <dgm:prSet phldrT="[Text]"/>
      <dgm:spPr/>
      <dgm:t>
        <a:bodyPr/>
        <a:lstStyle/>
        <a:p>
          <a:r>
            <a:rPr lang="en-GB" dirty="0"/>
            <a:t>Calinski-</a:t>
          </a:r>
          <a:r>
            <a:rPr lang="en-GB" dirty="0" err="1"/>
            <a:t>Harabasz</a:t>
          </a:r>
          <a:r>
            <a:rPr lang="en-GB" dirty="0"/>
            <a:t> Index</a:t>
          </a:r>
          <a:endParaRPr lang="en-US" dirty="0"/>
        </a:p>
      </dgm:t>
    </dgm:pt>
    <dgm:pt modelId="{5763EEA0-3CD5-47CD-8486-1090D73B6BA6}" type="parTrans" cxnId="{39043CCF-4EC9-42AB-8C73-8046023442CC}">
      <dgm:prSet/>
      <dgm:spPr/>
      <dgm:t>
        <a:bodyPr/>
        <a:lstStyle/>
        <a:p>
          <a:endParaRPr lang="en-US"/>
        </a:p>
      </dgm:t>
    </dgm:pt>
    <dgm:pt modelId="{68D8B8C9-7BAF-4B4E-ADCD-42718EFD09DD}" type="sibTrans" cxnId="{39043CCF-4EC9-42AB-8C73-8046023442CC}">
      <dgm:prSet/>
      <dgm:spPr/>
      <dgm:t>
        <a:bodyPr/>
        <a:lstStyle/>
        <a:p>
          <a:endParaRPr lang="en-US"/>
        </a:p>
      </dgm:t>
    </dgm:pt>
    <dgm:pt modelId="{F208685E-CF7B-4989-87CD-C6ECA6CE08B7}">
      <dgm:prSet/>
      <dgm:spPr/>
      <dgm:t>
        <a:bodyPr/>
        <a:lstStyle/>
        <a:p>
          <a:endParaRPr lang="en-GB"/>
        </a:p>
      </dgm:t>
    </dgm:pt>
    <dgm:pt modelId="{7F4EF81D-A41A-4C1B-9227-27C6F24FC1A6}" type="parTrans" cxnId="{D3D1D7F0-80EA-499C-8EAC-4896AB7E4E79}">
      <dgm:prSet/>
      <dgm:spPr/>
      <dgm:t>
        <a:bodyPr/>
        <a:lstStyle/>
        <a:p>
          <a:endParaRPr lang="en-US"/>
        </a:p>
      </dgm:t>
    </dgm:pt>
    <dgm:pt modelId="{DC8C07F5-806E-4710-B760-72AFB51EB15C}" type="sibTrans" cxnId="{D3D1D7F0-80EA-499C-8EAC-4896AB7E4E79}">
      <dgm:prSet/>
      <dgm:spPr/>
      <dgm:t>
        <a:bodyPr/>
        <a:lstStyle/>
        <a:p>
          <a:endParaRPr lang="en-US"/>
        </a:p>
      </dgm:t>
    </dgm:pt>
    <dgm:pt modelId="{7AEAAA91-BC6A-45F3-B75F-AA4C8943109C}" type="pres">
      <dgm:prSet presAssocID="{DB55FA12-AACE-4BB7-88B0-438DD381C26D}" presName="composite" presStyleCnt="0">
        <dgm:presLayoutVars>
          <dgm:chMax val="1"/>
          <dgm:dir/>
          <dgm:resizeHandles val="exact"/>
        </dgm:presLayoutVars>
      </dgm:prSet>
      <dgm:spPr/>
      <dgm:t>
        <a:bodyPr/>
        <a:lstStyle/>
        <a:p>
          <a:endParaRPr lang="en-US"/>
        </a:p>
      </dgm:t>
    </dgm:pt>
    <dgm:pt modelId="{A4AA3B60-D94E-4046-A46F-7193D2EA3FA4}" type="pres">
      <dgm:prSet presAssocID="{DB55FA12-AACE-4BB7-88B0-438DD381C26D}" presName="radial" presStyleCnt="0">
        <dgm:presLayoutVars>
          <dgm:animLvl val="ctr"/>
        </dgm:presLayoutVars>
      </dgm:prSet>
      <dgm:spPr/>
    </dgm:pt>
    <dgm:pt modelId="{EAB71611-B2EB-454C-826B-C38A22C3C95C}" type="pres">
      <dgm:prSet presAssocID="{D6B4C220-D667-4013-9B28-269D96D77BB7}" presName="centerShape" presStyleLbl="vennNode1" presStyleIdx="0" presStyleCnt="3" custScaleX="113121" custScaleY="114831"/>
      <dgm:spPr/>
      <dgm:t>
        <a:bodyPr/>
        <a:lstStyle/>
        <a:p>
          <a:endParaRPr lang="en-US"/>
        </a:p>
      </dgm:t>
    </dgm:pt>
    <dgm:pt modelId="{BBDBAAD0-AD8E-4ED8-90D5-B6CEA28A0096}" type="pres">
      <dgm:prSet presAssocID="{9F7B0F70-0ADD-466C-9E73-A84BE70E9070}" presName="node" presStyleLbl="vennNode1" presStyleIdx="1" presStyleCnt="3" custScaleX="160681" custScaleY="140460">
        <dgm:presLayoutVars>
          <dgm:bulletEnabled val="1"/>
        </dgm:presLayoutVars>
      </dgm:prSet>
      <dgm:spPr/>
      <dgm:t>
        <a:bodyPr/>
        <a:lstStyle/>
        <a:p>
          <a:endParaRPr lang="en-US"/>
        </a:p>
      </dgm:t>
    </dgm:pt>
    <dgm:pt modelId="{B3CD6CDE-14C5-43DB-AA80-3B7B1C3AE109}" type="pres">
      <dgm:prSet presAssocID="{FE4ED6A8-6865-462E-A522-B59723748F0D}" presName="node" presStyleLbl="vennNode1" presStyleIdx="2" presStyleCnt="3" custScaleX="140682" custScaleY="124321" custRadScaleRad="111310" custRadScaleInc="-194">
        <dgm:presLayoutVars>
          <dgm:bulletEnabled val="1"/>
        </dgm:presLayoutVars>
      </dgm:prSet>
      <dgm:spPr/>
      <dgm:t>
        <a:bodyPr/>
        <a:lstStyle/>
        <a:p>
          <a:endParaRPr lang="en-US"/>
        </a:p>
      </dgm:t>
    </dgm:pt>
  </dgm:ptLst>
  <dgm:cxnLst>
    <dgm:cxn modelId="{B45BDBF4-4005-4CFB-825F-7B250CEED948}" type="presOf" srcId="{9F7B0F70-0ADD-466C-9E73-A84BE70E9070}" destId="{BBDBAAD0-AD8E-4ED8-90D5-B6CEA28A0096}" srcOrd="0" destOrd="0" presId="urn:microsoft.com/office/officeart/2005/8/layout/radial3"/>
    <dgm:cxn modelId="{CD3E5D6A-C4C1-4191-A12D-9718BC865B9D}" type="presOf" srcId="{DB55FA12-AACE-4BB7-88B0-438DD381C26D}" destId="{7AEAAA91-BC6A-45F3-B75F-AA4C8943109C}" srcOrd="0" destOrd="0" presId="urn:microsoft.com/office/officeart/2005/8/layout/radial3"/>
    <dgm:cxn modelId="{39043CCF-4EC9-42AB-8C73-8046023442CC}" srcId="{D6B4C220-D667-4013-9B28-269D96D77BB7}" destId="{FE4ED6A8-6865-462E-A522-B59723748F0D}" srcOrd="1" destOrd="0" parTransId="{5763EEA0-3CD5-47CD-8486-1090D73B6BA6}" sibTransId="{68D8B8C9-7BAF-4B4E-ADCD-42718EFD09DD}"/>
    <dgm:cxn modelId="{5A0091FA-3669-4900-97F0-893CA1CB9DD8}" type="presOf" srcId="{FE4ED6A8-6865-462E-A522-B59723748F0D}" destId="{B3CD6CDE-14C5-43DB-AA80-3B7B1C3AE109}" srcOrd="0" destOrd="0" presId="urn:microsoft.com/office/officeart/2005/8/layout/radial3"/>
    <dgm:cxn modelId="{F151F263-9F70-4871-9550-4A02B5DDC9F1}" srcId="{DB55FA12-AACE-4BB7-88B0-438DD381C26D}" destId="{D6B4C220-D667-4013-9B28-269D96D77BB7}" srcOrd="0" destOrd="0" parTransId="{7CA31E31-6C10-44E8-B752-8369310C96E1}" sibTransId="{7F18563D-1473-4312-A886-C2A6D114AF27}"/>
    <dgm:cxn modelId="{92AFA309-AA26-4521-87B5-AFF291A743FA}" type="presOf" srcId="{D6B4C220-D667-4013-9B28-269D96D77BB7}" destId="{EAB71611-B2EB-454C-826B-C38A22C3C95C}" srcOrd="0" destOrd="0" presId="urn:microsoft.com/office/officeart/2005/8/layout/radial3"/>
    <dgm:cxn modelId="{CE9FCCE5-EF5B-495A-9D6C-775BCFB11BF7}" srcId="{D6B4C220-D667-4013-9B28-269D96D77BB7}" destId="{9F7B0F70-0ADD-466C-9E73-A84BE70E9070}" srcOrd="0" destOrd="0" parTransId="{A19C651E-A6C1-47B0-A590-5F1662586C05}" sibTransId="{8CCFA99E-85AA-4C47-8787-8C0679E17D62}"/>
    <dgm:cxn modelId="{D3D1D7F0-80EA-499C-8EAC-4896AB7E4E79}" srcId="{DB55FA12-AACE-4BB7-88B0-438DD381C26D}" destId="{F208685E-CF7B-4989-87CD-C6ECA6CE08B7}" srcOrd="1" destOrd="0" parTransId="{7F4EF81D-A41A-4C1B-9227-27C6F24FC1A6}" sibTransId="{DC8C07F5-806E-4710-B760-72AFB51EB15C}"/>
    <dgm:cxn modelId="{3DDB0E24-9059-4FBF-846E-B5B168F0AE37}" type="presParOf" srcId="{7AEAAA91-BC6A-45F3-B75F-AA4C8943109C}" destId="{A4AA3B60-D94E-4046-A46F-7193D2EA3FA4}" srcOrd="0" destOrd="0" presId="urn:microsoft.com/office/officeart/2005/8/layout/radial3"/>
    <dgm:cxn modelId="{2B93FEC8-912A-4075-AC0F-0CAB9F1CBB38}" type="presParOf" srcId="{A4AA3B60-D94E-4046-A46F-7193D2EA3FA4}" destId="{EAB71611-B2EB-454C-826B-C38A22C3C95C}" srcOrd="0" destOrd="0" presId="urn:microsoft.com/office/officeart/2005/8/layout/radial3"/>
    <dgm:cxn modelId="{789FA4EA-8055-40AF-B0A6-7C4E9DC62A0B}" type="presParOf" srcId="{A4AA3B60-D94E-4046-A46F-7193D2EA3FA4}" destId="{BBDBAAD0-AD8E-4ED8-90D5-B6CEA28A0096}" srcOrd="1" destOrd="0" presId="urn:microsoft.com/office/officeart/2005/8/layout/radial3"/>
    <dgm:cxn modelId="{20C45249-8E41-42E6-A38A-2F875607179F}" type="presParOf" srcId="{A4AA3B60-D94E-4046-A46F-7193D2EA3FA4}" destId="{B3CD6CDE-14C5-43DB-AA80-3B7B1C3AE109}" srcOrd="2" destOrd="0" presId="urn:microsoft.com/office/officeart/2005/8/layout/radial3"/>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97EE5B-8B3E-4B7A-8145-8D67C466A31D}">
      <dsp:nvSpPr>
        <dsp:cNvPr id="0" name=""/>
        <dsp:cNvSpPr/>
      </dsp:nvSpPr>
      <dsp:spPr>
        <a:xfrm>
          <a:off x="479230" y="1286642"/>
          <a:ext cx="313530" cy="597427"/>
        </a:xfrm>
        <a:custGeom>
          <a:avLst/>
          <a:gdLst/>
          <a:ahLst/>
          <a:cxnLst/>
          <a:rect l="0" t="0" r="0" b="0"/>
          <a:pathLst>
            <a:path>
              <a:moveTo>
                <a:pt x="0" y="0"/>
              </a:moveTo>
              <a:lnTo>
                <a:pt x="156765" y="0"/>
              </a:lnTo>
              <a:lnTo>
                <a:pt x="156765" y="597427"/>
              </a:lnTo>
              <a:lnTo>
                <a:pt x="313530" y="5974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619128" y="1568488"/>
        <a:ext cx="33735" cy="33735"/>
      </dsp:txXfrm>
    </dsp:sp>
    <dsp:sp modelId="{F0AF3C3F-164B-4B4E-B4FD-49A908791C9D}">
      <dsp:nvSpPr>
        <dsp:cNvPr id="0" name=""/>
        <dsp:cNvSpPr/>
      </dsp:nvSpPr>
      <dsp:spPr>
        <a:xfrm>
          <a:off x="479230" y="1240922"/>
          <a:ext cx="313530" cy="91440"/>
        </a:xfrm>
        <a:custGeom>
          <a:avLst/>
          <a:gdLst/>
          <a:ahLst/>
          <a:cxnLst/>
          <a:rect l="0" t="0" r="0" b="0"/>
          <a:pathLst>
            <a:path>
              <a:moveTo>
                <a:pt x="0" y="45720"/>
              </a:moveTo>
              <a:lnTo>
                <a:pt x="313530"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628157" y="1278803"/>
        <a:ext cx="15676" cy="15676"/>
      </dsp:txXfrm>
    </dsp:sp>
    <dsp:sp modelId="{34FB3CD9-8045-4E7C-863C-B6F0805E23D9}">
      <dsp:nvSpPr>
        <dsp:cNvPr id="0" name=""/>
        <dsp:cNvSpPr/>
      </dsp:nvSpPr>
      <dsp:spPr>
        <a:xfrm>
          <a:off x="479230" y="689214"/>
          <a:ext cx="313530" cy="597427"/>
        </a:xfrm>
        <a:custGeom>
          <a:avLst/>
          <a:gdLst/>
          <a:ahLst/>
          <a:cxnLst/>
          <a:rect l="0" t="0" r="0" b="0"/>
          <a:pathLst>
            <a:path>
              <a:moveTo>
                <a:pt x="0" y="597427"/>
              </a:moveTo>
              <a:lnTo>
                <a:pt x="156765" y="597427"/>
              </a:lnTo>
              <a:lnTo>
                <a:pt x="156765" y="0"/>
              </a:lnTo>
              <a:lnTo>
                <a:pt x="31353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619128" y="971060"/>
        <a:ext cx="33735" cy="33735"/>
      </dsp:txXfrm>
    </dsp:sp>
    <dsp:sp modelId="{BBE7075C-1E12-4D73-A32B-218A576978A1}">
      <dsp:nvSpPr>
        <dsp:cNvPr id="0" name=""/>
        <dsp:cNvSpPr/>
      </dsp:nvSpPr>
      <dsp:spPr>
        <a:xfrm rot="16200000">
          <a:off x="-1017483" y="1047670"/>
          <a:ext cx="2515485" cy="47794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dirty="0"/>
            <a:t>Data Preprocessing</a:t>
          </a:r>
        </a:p>
      </dsp:txBody>
      <dsp:txXfrm>
        <a:off x="-1017483" y="1047670"/>
        <a:ext cx="2515485" cy="477942"/>
      </dsp:txXfrm>
    </dsp:sp>
    <dsp:sp modelId="{A0AE6A10-BB0B-493A-8064-53AAE9A7A24B}">
      <dsp:nvSpPr>
        <dsp:cNvPr id="0" name=""/>
        <dsp:cNvSpPr/>
      </dsp:nvSpPr>
      <dsp:spPr>
        <a:xfrm>
          <a:off x="792760" y="450243"/>
          <a:ext cx="2071807" cy="47794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a:t>Missing values and </a:t>
          </a:r>
          <a:r>
            <a:rPr lang="en-GB" sz="1400" b="1" kern="1200" dirty="0"/>
            <a:t>outliers' detection</a:t>
          </a:r>
          <a:endParaRPr lang="en-US" sz="1400" b="1" kern="1200" dirty="0"/>
        </a:p>
      </dsp:txBody>
      <dsp:txXfrm>
        <a:off x="792760" y="450243"/>
        <a:ext cx="2071807" cy="477942"/>
      </dsp:txXfrm>
    </dsp:sp>
    <dsp:sp modelId="{02A11E44-B481-486D-B75A-8C265EAF39F8}">
      <dsp:nvSpPr>
        <dsp:cNvPr id="0" name=""/>
        <dsp:cNvSpPr/>
      </dsp:nvSpPr>
      <dsp:spPr>
        <a:xfrm>
          <a:off x="792760" y="1047670"/>
          <a:ext cx="2122755" cy="47794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a:t>Feature Engineering and selection</a:t>
          </a:r>
        </a:p>
      </dsp:txBody>
      <dsp:txXfrm>
        <a:off x="792760" y="1047670"/>
        <a:ext cx="2122755" cy="477942"/>
      </dsp:txXfrm>
    </dsp:sp>
    <dsp:sp modelId="{3CEAA854-702C-414B-A042-9C09D68185B2}">
      <dsp:nvSpPr>
        <dsp:cNvPr id="0" name=""/>
        <dsp:cNvSpPr/>
      </dsp:nvSpPr>
      <dsp:spPr>
        <a:xfrm>
          <a:off x="792760" y="1645098"/>
          <a:ext cx="1983062" cy="47794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a:t>Data Scaling and PCA</a:t>
          </a:r>
        </a:p>
      </dsp:txBody>
      <dsp:txXfrm>
        <a:off x="792760" y="1645098"/>
        <a:ext cx="1983062" cy="4779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851E00-5D65-4B66-9DF9-D57E496AA7C4}">
      <dsp:nvSpPr>
        <dsp:cNvPr id="0" name=""/>
        <dsp:cNvSpPr/>
      </dsp:nvSpPr>
      <dsp:spPr>
        <a:xfrm>
          <a:off x="653022" y="342060"/>
          <a:ext cx="2279354" cy="2279354"/>
        </a:xfrm>
        <a:prstGeom prst="blockArc">
          <a:avLst>
            <a:gd name="adj1" fmla="val 9000000"/>
            <a:gd name="adj2" fmla="val 16200000"/>
            <a:gd name="adj3" fmla="val 4641"/>
          </a:avLst>
        </a:prstGeom>
        <a:solidFill>
          <a:schemeClr val="accent5">
            <a:hueOff val="-7353344"/>
            <a:satOff val="-10228"/>
            <a:lumOff val="-392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DFC6AA2-74A6-4D57-AC15-B70A6F971543}">
      <dsp:nvSpPr>
        <dsp:cNvPr id="0" name=""/>
        <dsp:cNvSpPr/>
      </dsp:nvSpPr>
      <dsp:spPr>
        <a:xfrm>
          <a:off x="653022" y="342060"/>
          <a:ext cx="2279354" cy="2279354"/>
        </a:xfrm>
        <a:prstGeom prst="blockArc">
          <a:avLst>
            <a:gd name="adj1" fmla="val 1800000"/>
            <a:gd name="adj2" fmla="val 9000000"/>
            <a:gd name="adj3" fmla="val 4641"/>
          </a:avLst>
        </a:prstGeom>
        <a:solidFill>
          <a:schemeClr val="accent5">
            <a:hueOff val="-3676672"/>
            <a:satOff val="-5114"/>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13F1A73-8D8B-4533-8E21-BCFDF0AFB2FD}">
      <dsp:nvSpPr>
        <dsp:cNvPr id="0" name=""/>
        <dsp:cNvSpPr/>
      </dsp:nvSpPr>
      <dsp:spPr>
        <a:xfrm>
          <a:off x="653022" y="342060"/>
          <a:ext cx="2279354" cy="2279354"/>
        </a:xfrm>
        <a:prstGeom prst="blockArc">
          <a:avLst>
            <a:gd name="adj1" fmla="val 16200000"/>
            <a:gd name="adj2" fmla="val 1800000"/>
            <a:gd name="adj3" fmla="val 4641"/>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7F95D2E-1490-4D8E-8AB6-C1B035332EAD}">
      <dsp:nvSpPr>
        <dsp:cNvPr id="0" name=""/>
        <dsp:cNvSpPr/>
      </dsp:nvSpPr>
      <dsp:spPr>
        <a:xfrm>
          <a:off x="1267923" y="956961"/>
          <a:ext cx="1049552" cy="1049552"/>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b="1" kern="1200" dirty="0">
              <a:solidFill>
                <a:schemeClr val="tx1"/>
              </a:solidFill>
            </a:rPr>
            <a:t>Training Process</a:t>
          </a:r>
        </a:p>
      </dsp:txBody>
      <dsp:txXfrm>
        <a:off x="1421626" y="1110664"/>
        <a:ext cx="742146" cy="742146"/>
      </dsp:txXfrm>
    </dsp:sp>
    <dsp:sp modelId="{4B4EB2D0-81D9-4B2F-9901-B03B9BF9E358}">
      <dsp:nvSpPr>
        <dsp:cNvPr id="0" name=""/>
        <dsp:cNvSpPr/>
      </dsp:nvSpPr>
      <dsp:spPr>
        <a:xfrm>
          <a:off x="1425356" y="1165"/>
          <a:ext cx="734687" cy="734687"/>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22275">
            <a:lnSpc>
              <a:spcPct val="90000"/>
            </a:lnSpc>
            <a:spcBef>
              <a:spcPct val="0"/>
            </a:spcBef>
            <a:spcAft>
              <a:spcPct val="35000"/>
            </a:spcAft>
          </a:pPr>
          <a:r>
            <a:rPr lang="en-GB" sz="950" b="1" kern="1200" dirty="0">
              <a:solidFill>
                <a:schemeClr val="tx1"/>
              </a:solidFill>
            </a:rPr>
            <a:t>Loss Functions</a:t>
          </a:r>
          <a:endParaRPr lang="en-US" sz="950" kern="1200" dirty="0">
            <a:solidFill>
              <a:schemeClr val="tx1"/>
            </a:solidFill>
          </a:endParaRPr>
        </a:p>
      </dsp:txBody>
      <dsp:txXfrm>
        <a:off x="1532948" y="108757"/>
        <a:ext cx="519503" cy="519503"/>
      </dsp:txXfrm>
    </dsp:sp>
    <dsp:sp modelId="{5EC0F887-05B5-47C2-A479-FF655BB0CAFC}">
      <dsp:nvSpPr>
        <dsp:cNvPr id="0" name=""/>
        <dsp:cNvSpPr/>
      </dsp:nvSpPr>
      <dsp:spPr>
        <a:xfrm>
          <a:off x="2288769" y="1671008"/>
          <a:ext cx="936028" cy="734687"/>
        </a:xfrm>
        <a:prstGeom prst="ellipse">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n-GB" sz="800" b="1" kern="1200" dirty="0">
              <a:solidFill>
                <a:schemeClr val="tx1"/>
              </a:solidFill>
            </a:rPr>
            <a:t>Optimization Algorithms</a:t>
          </a:r>
          <a:endParaRPr lang="en-US" sz="800" kern="1200" dirty="0">
            <a:solidFill>
              <a:schemeClr val="tx1"/>
            </a:solidFill>
          </a:endParaRPr>
        </a:p>
      </dsp:txBody>
      <dsp:txXfrm>
        <a:off x="2425847" y="1778600"/>
        <a:ext cx="661872" cy="519503"/>
      </dsp:txXfrm>
    </dsp:sp>
    <dsp:sp modelId="{124A5C7D-6EB0-4B01-A596-F9387CB7E21E}">
      <dsp:nvSpPr>
        <dsp:cNvPr id="0" name=""/>
        <dsp:cNvSpPr/>
      </dsp:nvSpPr>
      <dsp:spPr>
        <a:xfrm>
          <a:off x="387781" y="1671008"/>
          <a:ext cx="881668" cy="734687"/>
        </a:xfrm>
        <a:prstGeom prst="ellipse">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n-GB" sz="800" b="1" kern="1200" dirty="0">
              <a:solidFill>
                <a:schemeClr val="tx1"/>
              </a:solidFill>
            </a:rPr>
            <a:t>Model Training and Validation</a:t>
          </a:r>
          <a:endParaRPr lang="en-US" sz="800" kern="1200" dirty="0">
            <a:solidFill>
              <a:schemeClr val="tx1"/>
            </a:solidFill>
          </a:endParaRPr>
        </a:p>
      </dsp:txBody>
      <dsp:txXfrm>
        <a:off x="516898" y="1778600"/>
        <a:ext cx="623434" cy="5195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B71611-B2EB-454C-826B-C38A22C3C95C}">
      <dsp:nvSpPr>
        <dsp:cNvPr id="0" name=""/>
        <dsp:cNvSpPr/>
      </dsp:nvSpPr>
      <dsp:spPr>
        <a:xfrm>
          <a:off x="544479" y="492582"/>
          <a:ext cx="1603830" cy="1628075"/>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GB" sz="1900" b="1" kern="1200" dirty="0"/>
            <a:t>Model Evaluation</a:t>
          </a:r>
          <a:endParaRPr lang="en-US" sz="1900" kern="1200" dirty="0"/>
        </a:p>
      </dsp:txBody>
      <dsp:txXfrm>
        <a:off x="779354" y="731008"/>
        <a:ext cx="1134080" cy="1151223"/>
      </dsp:txXfrm>
    </dsp:sp>
    <dsp:sp modelId="{BBDBAAD0-AD8E-4ED8-90D5-B6CEA28A0096}">
      <dsp:nvSpPr>
        <dsp:cNvPr id="0" name=""/>
        <dsp:cNvSpPr/>
      </dsp:nvSpPr>
      <dsp:spPr>
        <a:xfrm>
          <a:off x="776860" y="-114555"/>
          <a:ext cx="1139068" cy="995721"/>
        </a:xfrm>
        <a:prstGeom prst="ellipse">
          <a:avLst/>
        </a:prstGeom>
        <a:solidFill>
          <a:schemeClr val="accent4">
            <a:alpha val="50000"/>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GB" sz="1400" kern="1200" dirty="0"/>
            <a:t>Silhouette Score</a:t>
          </a:r>
          <a:endParaRPr lang="en-US" sz="1400" kern="1200" dirty="0"/>
        </a:p>
      </dsp:txBody>
      <dsp:txXfrm>
        <a:off x="943673" y="31265"/>
        <a:ext cx="805442" cy="704081"/>
      </dsp:txXfrm>
    </dsp:sp>
    <dsp:sp modelId="{B3CD6CDE-14C5-43DB-AA80-3B7B1C3AE109}">
      <dsp:nvSpPr>
        <dsp:cNvPr id="0" name=""/>
        <dsp:cNvSpPr/>
      </dsp:nvSpPr>
      <dsp:spPr>
        <a:xfrm>
          <a:off x="854010" y="1789278"/>
          <a:ext cx="997295" cy="881312"/>
        </a:xfrm>
        <a:prstGeom prst="ellipse">
          <a:avLst/>
        </a:prstGeom>
        <a:solidFill>
          <a:schemeClr val="accent4">
            <a:alpha val="50000"/>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GB" sz="1400" kern="1200" dirty="0"/>
            <a:t>Calinski-</a:t>
          </a:r>
          <a:r>
            <a:rPr lang="en-GB" sz="1400" kern="1200" dirty="0" err="1"/>
            <a:t>Harabasz</a:t>
          </a:r>
          <a:r>
            <a:rPr lang="en-GB" sz="1400" kern="1200" dirty="0"/>
            <a:t> Index</a:t>
          </a:r>
          <a:endParaRPr lang="en-US" sz="1400" kern="1200" dirty="0"/>
        </a:p>
      </dsp:txBody>
      <dsp:txXfrm>
        <a:off x="1000060" y="1918343"/>
        <a:ext cx="705195" cy="623182"/>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FE4A38-45F6-406D-A080-F2CCA1F6A7F5}" type="datetimeFigureOut">
              <a:rPr lang="en-US" smtClean="0"/>
              <a:t>8/12/2024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E73C09-21B8-4639-9510-0990F82D178A}" type="slidenum">
              <a:rPr lang="en-US" smtClean="0"/>
              <a:t>‹#›</a:t>
            </a:fld>
            <a:endParaRPr lang="en-US"/>
          </a:p>
        </p:txBody>
      </p:sp>
    </p:spTree>
    <p:extLst>
      <p:ext uri="{BB962C8B-B14F-4D97-AF65-F5344CB8AC3E}">
        <p14:creationId xmlns:p14="http://schemas.microsoft.com/office/powerpoint/2010/main" val="2312233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E73C09-21B8-4639-9510-0990F82D178A}" type="slidenum">
              <a:rPr lang="en-US" smtClean="0"/>
              <a:t>4</a:t>
            </a:fld>
            <a:endParaRPr lang="en-US"/>
          </a:p>
        </p:txBody>
      </p:sp>
    </p:spTree>
    <p:extLst>
      <p:ext uri="{BB962C8B-B14F-4D97-AF65-F5344CB8AC3E}">
        <p14:creationId xmlns:p14="http://schemas.microsoft.com/office/powerpoint/2010/main" val="2370082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E73C09-21B8-4639-9510-0990F82D178A}" type="slidenum">
              <a:rPr lang="en-US" smtClean="0"/>
              <a:t>5</a:t>
            </a:fld>
            <a:endParaRPr lang="en-US"/>
          </a:p>
        </p:txBody>
      </p:sp>
    </p:spTree>
    <p:extLst>
      <p:ext uri="{BB962C8B-B14F-4D97-AF65-F5344CB8AC3E}">
        <p14:creationId xmlns:p14="http://schemas.microsoft.com/office/powerpoint/2010/main" val="2579618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E73C09-21B8-4639-9510-0990F82D178A}" type="slidenum">
              <a:rPr lang="en-US" smtClean="0"/>
              <a:t>6</a:t>
            </a:fld>
            <a:endParaRPr lang="en-US"/>
          </a:p>
        </p:txBody>
      </p:sp>
    </p:spTree>
    <p:extLst>
      <p:ext uri="{BB962C8B-B14F-4D97-AF65-F5344CB8AC3E}">
        <p14:creationId xmlns:p14="http://schemas.microsoft.com/office/powerpoint/2010/main" val="3638002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E73C09-21B8-4639-9510-0990F82D178A}" type="slidenum">
              <a:rPr lang="en-US" smtClean="0"/>
              <a:t>8</a:t>
            </a:fld>
            <a:endParaRPr lang="en-US"/>
          </a:p>
        </p:txBody>
      </p:sp>
    </p:spTree>
    <p:extLst>
      <p:ext uri="{BB962C8B-B14F-4D97-AF65-F5344CB8AC3E}">
        <p14:creationId xmlns:p14="http://schemas.microsoft.com/office/powerpoint/2010/main" val="75966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8E794B8-8823-45CD-B140-458D2FE5689A}"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7F12C-0CEE-4CD4-8929-FD40ADF25455}" type="slidenum">
              <a:rPr lang="en-US" smtClean="0"/>
              <a:t>‹#›</a:t>
            </a:fld>
            <a:endParaRPr lang="en-US"/>
          </a:p>
        </p:txBody>
      </p:sp>
    </p:spTree>
    <p:extLst>
      <p:ext uri="{BB962C8B-B14F-4D97-AF65-F5344CB8AC3E}">
        <p14:creationId xmlns:p14="http://schemas.microsoft.com/office/powerpoint/2010/main" val="106639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E794B8-8823-45CD-B140-458D2FE5689A}"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7F12C-0CEE-4CD4-8929-FD40ADF25455}" type="slidenum">
              <a:rPr lang="en-US" smtClean="0"/>
              <a:t>‹#›</a:t>
            </a:fld>
            <a:endParaRPr lang="en-US"/>
          </a:p>
        </p:txBody>
      </p:sp>
    </p:spTree>
    <p:extLst>
      <p:ext uri="{BB962C8B-B14F-4D97-AF65-F5344CB8AC3E}">
        <p14:creationId xmlns:p14="http://schemas.microsoft.com/office/powerpoint/2010/main" val="3361204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E794B8-8823-45CD-B140-458D2FE5689A}"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7F12C-0CEE-4CD4-8929-FD40ADF25455}" type="slidenum">
              <a:rPr lang="en-US" smtClean="0"/>
              <a:t>‹#›</a:t>
            </a:fld>
            <a:endParaRPr lang="en-US"/>
          </a:p>
        </p:txBody>
      </p:sp>
    </p:spTree>
    <p:extLst>
      <p:ext uri="{BB962C8B-B14F-4D97-AF65-F5344CB8AC3E}">
        <p14:creationId xmlns:p14="http://schemas.microsoft.com/office/powerpoint/2010/main" val="224344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E794B8-8823-45CD-B140-458D2FE5689A}" type="datetimeFigureOut">
              <a:rPr lang="en-US" smtClean="0"/>
              <a:t>8/12/2024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17F12C-0CEE-4CD4-8929-FD40ADF25455}" type="slidenum">
              <a:rPr lang="en-US" smtClean="0"/>
              <a:t>‹#›</a:t>
            </a:fld>
            <a:endParaRPr lang="en-US"/>
          </a:p>
        </p:txBody>
      </p:sp>
    </p:spTree>
    <p:extLst>
      <p:ext uri="{BB962C8B-B14F-4D97-AF65-F5344CB8AC3E}">
        <p14:creationId xmlns:p14="http://schemas.microsoft.com/office/powerpoint/2010/main" val="870461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8E794B8-8823-45CD-B140-458D2FE5689A}" type="datetimeFigureOut">
              <a:rPr lang="en-US" smtClean="0"/>
              <a:t>8/12/2024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17F12C-0CEE-4CD4-8929-FD40ADF25455}" type="slidenum">
              <a:rPr lang="en-US" smtClean="0"/>
              <a:t>‹#›</a:t>
            </a:fld>
            <a:endParaRPr lang="en-US"/>
          </a:p>
        </p:txBody>
      </p:sp>
    </p:spTree>
    <p:extLst>
      <p:ext uri="{BB962C8B-B14F-4D97-AF65-F5344CB8AC3E}">
        <p14:creationId xmlns:p14="http://schemas.microsoft.com/office/powerpoint/2010/main" val="2869242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E794B8-8823-45CD-B140-458D2FE5689A}" type="datetimeFigureOut">
              <a:rPr lang="en-US" smtClean="0"/>
              <a:t>8/12/2024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17F12C-0CEE-4CD4-8929-FD40ADF25455}" type="slidenum">
              <a:rPr lang="en-US" smtClean="0"/>
              <a:t>‹#›</a:t>
            </a:fld>
            <a:endParaRPr lang="en-US"/>
          </a:p>
        </p:txBody>
      </p:sp>
    </p:spTree>
    <p:extLst>
      <p:ext uri="{BB962C8B-B14F-4D97-AF65-F5344CB8AC3E}">
        <p14:creationId xmlns:p14="http://schemas.microsoft.com/office/powerpoint/2010/main" val="291730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E794B8-8823-45CD-B140-458D2FE5689A}" type="datetimeFigureOut">
              <a:rPr lang="en-US" smtClean="0"/>
              <a:t>8/12/2024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17F12C-0CEE-4CD4-8929-FD40ADF25455}" type="slidenum">
              <a:rPr lang="en-US" smtClean="0"/>
              <a:t>‹#›</a:t>
            </a:fld>
            <a:endParaRPr lang="en-US"/>
          </a:p>
        </p:txBody>
      </p:sp>
    </p:spTree>
    <p:extLst>
      <p:ext uri="{BB962C8B-B14F-4D97-AF65-F5344CB8AC3E}">
        <p14:creationId xmlns:p14="http://schemas.microsoft.com/office/powerpoint/2010/main" val="3431026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E794B8-8823-45CD-B140-458D2FE5689A}" type="datetimeFigureOut">
              <a:rPr lang="en-US" smtClean="0"/>
              <a:t>8/12/2024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17F12C-0CEE-4CD4-8929-FD40ADF25455}" type="slidenum">
              <a:rPr lang="en-US" smtClean="0"/>
              <a:t>‹#›</a:t>
            </a:fld>
            <a:endParaRPr lang="en-US"/>
          </a:p>
        </p:txBody>
      </p:sp>
    </p:spTree>
    <p:extLst>
      <p:ext uri="{BB962C8B-B14F-4D97-AF65-F5344CB8AC3E}">
        <p14:creationId xmlns:p14="http://schemas.microsoft.com/office/powerpoint/2010/main" val="920543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E794B8-8823-45CD-B140-458D2FE5689A}" type="datetimeFigureOut">
              <a:rPr lang="en-US" smtClean="0"/>
              <a:t>8/12/2024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17F12C-0CEE-4CD4-8929-FD40ADF25455}" type="slidenum">
              <a:rPr lang="en-US" smtClean="0"/>
              <a:t>‹#›</a:t>
            </a:fld>
            <a:endParaRPr lang="en-US"/>
          </a:p>
        </p:txBody>
      </p:sp>
    </p:spTree>
    <p:extLst>
      <p:ext uri="{BB962C8B-B14F-4D97-AF65-F5344CB8AC3E}">
        <p14:creationId xmlns:p14="http://schemas.microsoft.com/office/powerpoint/2010/main" val="1751843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E794B8-8823-45CD-B140-458D2FE5689A}"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7F12C-0CEE-4CD4-8929-FD40ADF25455}" type="slidenum">
              <a:rPr lang="en-US" smtClean="0"/>
              <a:t>‹#›</a:t>
            </a:fld>
            <a:endParaRPr lang="en-US"/>
          </a:p>
        </p:txBody>
      </p:sp>
    </p:spTree>
    <p:extLst>
      <p:ext uri="{BB962C8B-B14F-4D97-AF65-F5344CB8AC3E}">
        <p14:creationId xmlns:p14="http://schemas.microsoft.com/office/powerpoint/2010/main" val="21636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E794B8-8823-45CD-B140-458D2FE5689A}"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7F12C-0CEE-4CD4-8929-FD40ADF25455}" type="slidenum">
              <a:rPr lang="en-US" smtClean="0"/>
              <a:t>‹#›</a:t>
            </a:fld>
            <a:endParaRPr lang="en-US"/>
          </a:p>
        </p:txBody>
      </p:sp>
    </p:spTree>
    <p:extLst>
      <p:ext uri="{BB962C8B-B14F-4D97-AF65-F5344CB8AC3E}">
        <p14:creationId xmlns:p14="http://schemas.microsoft.com/office/powerpoint/2010/main" val="159867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E794B8-8823-45CD-B140-458D2FE5689A}" type="datetimeFigureOut">
              <a:rPr lang="en-US" smtClean="0"/>
              <a:t>8/12/2024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17F12C-0CEE-4CD4-8929-FD40ADF25455}" type="slidenum">
              <a:rPr lang="en-US" smtClean="0"/>
              <a:t>‹#›</a:t>
            </a:fld>
            <a:endParaRPr lang="en-US"/>
          </a:p>
        </p:txBody>
      </p:sp>
    </p:spTree>
    <p:extLst>
      <p:ext uri="{BB962C8B-B14F-4D97-AF65-F5344CB8AC3E}">
        <p14:creationId xmlns:p14="http://schemas.microsoft.com/office/powerpoint/2010/main" val="24644674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3.xml"/><Relationship Id="rId16" Type="http://schemas.openxmlformats.org/officeDocument/2006/relationships/diagramColors" Target="../diagrams/colors3.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9CEEC2E-C3D1-40E3-AB26-E91C3CF13B96}"/>
              </a:ext>
            </a:extLst>
          </p:cNvPr>
          <p:cNvSpPr>
            <a:spLocks noGrp="1"/>
          </p:cNvSpPr>
          <p:nvPr>
            <p:ph type="subTitle" idx="1"/>
          </p:nvPr>
        </p:nvSpPr>
        <p:spPr>
          <a:xfrm>
            <a:off x="564776" y="1639171"/>
            <a:ext cx="9834281" cy="1965805"/>
          </a:xfrm>
        </p:spPr>
        <p:txBody>
          <a:bodyPr>
            <a:normAutofit fontScale="25000" lnSpcReduction="20000"/>
          </a:bodyPr>
          <a:lstStyle/>
          <a:p>
            <a:pPr>
              <a:lnSpc>
                <a:spcPct val="120000"/>
              </a:lnSpc>
            </a:pPr>
            <a:r>
              <a:rPr lang="en-US" sz="14400" b="1" dirty="0">
                <a:solidFill>
                  <a:srgbClr val="FF0000"/>
                </a:solidFill>
              </a:rPr>
              <a:t>An investigation into unsupervised machine Learning for predicting customer segment: Autoencoder method</a:t>
            </a:r>
            <a:endParaRPr lang="en-US" sz="14400" dirty="0"/>
          </a:p>
        </p:txBody>
      </p:sp>
      <p:pic>
        <p:nvPicPr>
          <p:cNvPr id="1026" name="Picture 2" descr="University of Sunderland - Wikipedia">
            <a:extLst>
              <a:ext uri="{FF2B5EF4-FFF2-40B4-BE49-F238E27FC236}">
                <a16:creationId xmlns:a16="http://schemas.microsoft.com/office/drawing/2014/main" id="{06E1CE48-C466-438C-AC3F-1FC6EF8A7E8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46162" y="128619"/>
            <a:ext cx="2487386" cy="116285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19941F9-985C-F8AC-99EA-518786614F6E}"/>
              </a:ext>
            </a:extLst>
          </p:cNvPr>
          <p:cNvSpPr txBox="1"/>
          <p:nvPr/>
        </p:nvSpPr>
        <p:spPr>
          <a:xfrm>
            <a:off x="8041342" y="4787942"/>
            <a:ext cx="3429000" cy="430887"/>
          </a:xfrm>
          <a:prstGeom prst="rect">
            <a:avLst/>
          </a:prstGeom>
          <a:noFill/>
        </p:spPr>
        <p:txBody>
          <a:bodyPr wrap="square" rtlCol="0">
            <a:spAutoFit/>
          </a:bodyPr>
          <a:lstStyle/>
          <a:p>
            <a:r>
              <a:rPr lang="en-GB" sz="2200" b="1" dirty="0">
                <a:solidFill>
                  <a:srgbClr val="002060"/>
                </a:solidFill>
                <a:latin typeface="Algerian" panose="04020705040A02060702" pitchFamily="82" charset="0"/>
              </a:rPr>
              <a:t>MSc </a:t>
            </a:r>
            <a:r>
              <a:rPr lang="en-GB" sz="2200" b="1" dirty="0" smtClean="0">
                <a:solidFill>
                  <a:srgbClr val="002060"/>
                </a:solidFill>
                <a:latin typeface="Algerian" panose="04020705040A02060702" pitchFamily="82" charset="0"/>
              </a:rPr>
              <a:t>COMPUTING</a:t>
            </a:r>
            <a:endParaRPr lang="en-GB" sz="2200" b="1" dirty="0">
              <a:solidFill>
                <a:srgbClr val="002060"/>
              </a:solidFill>
              <a:latin typeface="Algerian" panose="04020705040A02060702" pitchFamily="82" charset="0"/>
            </a:endParaRPr>
          </a:p>
        </p:txBody>
      </p:sp>
      <p:sp>
        <p:nvSpPr>
          <p:cNvPr id="7" name="TextBox 6">
            <a:extLst>
              <a:ext uri="{FF2B5EF4-FFF2-40B4-BE49-F238E27FC236}">
                <a16:creationId xmlns:a16="http://schemas.microsoft.com/office/drawing/2014/main" id="{74805167-C3DD-CDEB-548F-8177A8E38EEF}"/>
              </a:ext>
            </a:extLst>
          </p:cNvPr>
          <p:cNvSpPr txBox="1"/>
          <p:nvPr/>
        </p:nvSpPr>
        <p:spPr>
          <a:xfrm>
            <a:off x="564776" y="4262718"/>
            <a:ext cx="5531224" cy="1754326"/>
          </a:xfrm>
          <a:prstGeom prst="rect">
            <a:avLst/>
          </a:prstGeom>
          <a:noFill/>
        </p:spPr>
        <p:txBody>
          <a:bodyPr wrap="square" rtlCol="0">
            <a:spAutoFit/>
          </a:bodyPr>
          <a:lstStyle/>
          <a:p>
            <a:pPr algn="ctr">
              <a:lnSpc>
                <a:spcPct val="150000"/>
              </a:lnSpc>
            </a:pPr>
            <a:r>
              <a:rPr lang="en-US" sz="2400" b="1" dirty="0">
                <a:solidFill>
                  <a:srgbClr val="002060"/>
                </a:solidFill>
                <a:latin typeface="Algerian" panose="04020705040A02060702" pitchFamily="82" charset="0"/>
              </a:rPr>
              <a:t>Name: Adewale James Ilesanmi</a:t>
            </a:r>
          </a:p>
          <a:p>
            <a:pPr algn="ctr">
              <a:lnSpc>
                <a:spcPct val="150000"/>
              </a:lnSpc>
            </a:pPr>
            <a:r>
              <a:rPr lang="en-US" sz="2400" b="1" dirty="0">
                <a:solidFill>
                  <a:srgbClr val="002060"/>
                </a:solidFill>
                <a:latin typeface="Algerian" panose="04020705040A02060702" pitchFamily="82" charset="0"/>
              </a:rPr>
              <a:t>Student ID: </a:t>
            </a:r>
            <a:r>
              <a:rPr lang="en-US" sz="2400" b="1" dirty="0" smtClean="0">
                <a:solidFill>
                  <a:srgbClr val="002060"/>
                </a:solidFill>
                <a:latin typeface="Algerian" panose="04020705040A02060702" pitchFamily="82" charset="0"/>
              </a:rPr>
              <a:t>BI52QF</a:t>
            </a:r>
            <a:endParaRPr lang="en-US" sz="2400" b="1" dirty="0">
              <a:solidFill>
                <a:srgbClr val="002060"/>
              </a:solidFill>
              <a:latin typeface="Algerian" panose="04020705040A02060702" pitchFamily="82" charset="0"/>
            </a:endParaRPr>
          </a:p>
          <a:p>
            <a:pPr algn="ctr">
              <a:lnSpc>
                <a:spcPct val="150000"/>
              </a:lnSpc>
            </a:pPr>
            <a:r>
              <a:rPr lang="en-US" sz="2400" b="1" dirty="0">
                <a:solidFill>
                  <a:srgbClr val="002060"/>
                </a:solidFill>
                <a:latin typeface="Algerian" panose="04020705040A02060702" pitchFamily="82" charset="0"/>
              </a:rPr>
              <a:t>Date: 12th </a:t>
            </a:r>
            <a:r>
              <a:rPr lang="en-GB" sz="2400" b="1" dirty="0">
                <a:solidFill>
                  <a:srgbClr val="002060"/>
                </a:solidFill>
                <a:latin typeface="Algerian" panose="04020705040A02060702" pitchFamily="82" charset="0"/>
              </a:rPr>
              <a:t>August</a:t>
            </a:r>
            <a:r>
              <a:rPr lang="en-US" sz="2400" b="1" dirty="0">
                <a:solidFill>
                  <a:srgbClr val="002060"/>
                </a:solidFill>
                <a:latin typeface="Algerian" panose="04020705040A02060702" pitchFamily="82" charset="0"/>
              </a:rPr>
              <a:t>, 2024</a:t>
            </a:r>
            <a:r>
              <a:rPr lang="en-US" b="1" dirty="0">
                <a:solidFill>
                  <a:srgbClr val="002060"/>
                </a:solidFill>
                <a:latin typeface="Algerian" panose="04020705040A02060702" pitchFamily="82" charset="0"/>
              </a:rPr>
              <a:t>.</a:t>
            </a:r>
          </a:p>
        </p:txBody>
      </p:sp>
    </p:spTree>
    <p:extLst>
      <p:ext uri="{BB962C8B-B14F-4D97-AF65-F5344CB8AC3E}">
        <p14:creationId xmlns:p14="http://schemas.microsoft.com/office/powerpoint/2010/main" val="2494653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8E447EE-981F-3445-AAD4-44D479B9FA6B}"/>
              </a:ext>
            </a:extLst>
          </p:cNvPr>
          <p:cNvSpPr/>
          <p:nvPr/>
        </p:nvSpPr>
        <p:spPr>
          <a:xfrm rot="16926037">
            <a:off x="1806675" y="4346417"/>
            <a:ext cx="1060836" cy="5022514"/>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2060"/>
              </a:solidFill>
            </a:endParaRPr>
          </a:p>
        </p:txBody>
      </p:sp>
      <p:sp>
        <p:nvSpPr>
          <p:cNvPr id="3" name="Rectangle 4">
            <a:extLst>
              <a:ext uri="{FF2B5EF4-FFF2-40B4-BE49-F238E27FC236}">
                <a16:creationId xmlns:a16="http://schemas.microsoft.com/office/drawing/2014/main" id="{C5D2130E-3E3C-2848-BE03-E4BF7B6D4FC1}"/>
              </a:ext>
            </a:extLst>
          </p:cNvPr>
          <p:cNvSpPr/>
          <p:nvPr/>
        </p:nvSpPr>
        <p:spPr>
          <a:xfrm rot="11529462">
            <a:off x="11920736" y="4342955"/>
            <a:ext cx="543464" cy="2620456"/>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021C72E9-4FFD-F642-9292-087C1D4DF696}"/>
              </a:ext>
            </a:extLst>
          </p:cNvPr>
          <p:cNvSpPr txBox="1">
            <a:spLocks/>
          </p:cNvSpPr>
          <p:nvPr/>
        </p:nvSpPr>
        <p:spPr>
          <a:xfrm>
            <a:off x="1690327" y="419221"/>
            <a:ext cx="3969441" cy="688009"/>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E30A0A"/>
                </a:solidFill>
                <a:latin typeface="Times New Roman" panose="02020603050405020304" pitchFamily="18" charset="0"/>
                <a:cs typeface="Times New Roman" panose="02020603050405020304" pitchFamily="18" charset="0"/>
              </a:rPr>
              <a:t>INTRODUCTION</a:t>
            </a:r>
            <a:endParaRPr lang="en-US" sz="3200" b="1" dirty="0">
              <a:solidFill>
                <a:srgbClr val="E30A0A"/>
              </a:solidFill>
              <a:latin typeface="Times New Roman" panose="02020603050405020304" pitchFamily="18" charset="0"/>
              <a:cs typeface="Times New Roman" panose="02020603050405020304" pitchFamily="18" charset="0"/>
            </a:endParaRPr>
          </a:p>
        </p:txBody>
      </p:sp>
      <p:sp>
        <p:nvSpPr>
          <p:cNvPr id="7" name="Right Arrow 6"/>
          <p:cNvSpPr/>
          <p:nvPr/>
        </p:nvSpPr>
        <p:spPr>
          <a:xfrm>
            <a:off x="695324" y="350585"/>
            <a:ext cx="775667" cy="616900"/>
          </a:xfrm>
          <a:prstGeom prst="rightArrow">
            <a:avLst/>
          </a:pr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982133" y="1134515"/>
            <a:ext cx="10430933" cy="4653646"/>
          </a:xfrm>
          <a:prstGeom prst="rect">
            <a:avLst/>
          </a:prstGeom>
          <a:noFill/>
        </p:spPr>
        <p:txBody>
          <a:bodyPr wrap="square" rtlCol="0">
            <a:spAutoFit/>
          </a:bodyPr>
          <a:lstStyle/>
          <a:p>
            <a:pPr marL="342900" indent="-342900" algn="just">
              <a:lnSpc>
                <a:spcPct val="150000"/>
              </a:lnSpc>
              <a:buClr>
                <a:srgbClr val="FF0000"/>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increasing complexity of customer behavior and preferences in today's competitive business landscape necessitates the development of advanced customer segmentation techniques. Traditional clustering methods often struggle to capture the </a:t>
            </a:r>
            <a:r>
              <a:rPr lang="en-GB" sz="2000" dirty="0">
                <a:latin typeface="Times New Roman" panose="02020603050405020304" pitchFamily="18" charset="0"/>
                <a:cs typeface="Times New Roman" panose="02020603050405020304" pitchFamily="18" charset="0"/>
              </a:rPr>
              <a:t>distinctions</a:t>
            </a:r>
            <a:r>
              <a:rPr lang="en-US" sz="2000" dirty="0">
                <a:latin typeface="Times New Roman" panose="02020603050405020304" pitchFamily="18" charset="0"/>
                <a:cs typeface="Times New Roman" panose="02020603050405020304" pitchFamily="18" charset="0"/>
              </a:rPr>
              <a:t> of customer data, sometimes leading to inaccurate segmentation and ineffective marketing strategies.</a:t>
            </a:r>
          </a:p>
          <a:p>
            <a:pPr marL="342900" indent="-342900" algn="just">
              <a:lnSpc>
                <a:spcPct val="150000"/>
              </a:lnSpc>
              <a:buClr>
                <a:srgbClr val="FF0000"/>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This thesis </a:t>
            </a:r>
            <a:r>
              <a:rPr lang="en-GB" sz="2000" dirty="0">
                <a:latin typeface="Times New Roman" panose="02020603050405020304" pitchFamily="18" charset="0"/>
                <a:cs typeface="Times New Roman" panose="02020603050405020304" pitchFamily="18" charset="0"/>
              </a:rPr>
              <a:t>investigate the use of </a:t>
            </a:r>
            <a:r>
              <a:rPr lang="en-US" sz="2000" dirty="0">
                <a:latin typeface="Times New Roman" panose="02020603050405020304" pitchFamily="18" charset="0"/>
                <a:cs typeface="Times New Roman" panose="02020603050405020304" pitchFamily="18" charset="0"/>
              </a:rPr>
              <a:t>autoencoders and variational autoencoders (VAEs), which offer promising solutions to better clustering.</a:t>
            </a:r>
          </a:p>
          <a:p>
            <a:pPr marL="342900" indent="-342900" algn="just">
              <a:lnSpc>
                <a:spcPct val="150000"/>
              </a:lnSpc>
              <a:buClr>
                <a:srgbClr val="FF0000"/>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Furthermore, dimensionality reduction through Principal Component Analysis (PCA) is investigated as a performance enhancer, exploring its potential to augment the clustering performance of autoencoders and provide a more comprehensive understanding of customer behavior.</a:t>
            </a:r>
          </a:p>
        </p:txBody>
      </p:sp>
      <p:pic>
        <p:nvPicPr>
          <p:cNvPr id="4" name="Picture 2" descr="University of Sunderland - Wikipedia">
            <a:extLst>
              <a:ext uri="{FF2B5EF4-FFF2-40B4-BE49-F238E27FC236}">
                <a16:creationId xmlns:a16="http://schemas.microsoft.com/office/drawing/2014/main" id="{19611580-A1A8-6715-D96F-648DD3F1A98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41540" y="6423"/>
            <a:ext cx="2413031" cy="1128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8992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8E447EE-981F-3445-AAD4-44D479B9FA6B}"/>
              </a:ext>
            </a:extLst>
          </p:cNvPr>
          <p:cNvSpPr/>
          <p:nvPr/>
        </p:nvSpPr>
        <p:spPr>
          <a:xfrm rot="16926037">
            <a:off x="1806675" y="4346417"/>
            <a:ext cx="1060836" cy="5022514"/>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2060"/>
              </a:solidFill>
            </a:endParaRPr>
          </a:p>
        </p:txBody>
      </p:sp>
      <p:sp>
        <p:nvSpPr>
          <p:cNvPr id="3" name="Rectangle 4">
            <a:extLst>
              <a:ext uri="{FF2B5EF4-FFF2-40B4-BE49-F238E27FC236}">
                <a16:creationId xmlns:a16="http://schemas.microsoft.com/office/drawing/2014/main" id="{C5D2130E-3E3C-2848-BE03-E4BF7B6D4FC1}"/>
              </a:ext>
            </a:extLst>
          </p:cNvPr>
          <p:cNvSpPr/>
          <p:nvPr/>
        </p:nvSpPr>
        <p:spPr>
          <a:xfrm rot="11529462">
            <a:off x="11920736" y="4342955"/>
            <a:ext cx="543464" cy="2620456"/>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021C72E9-4FFD-F642-9292-087C1D4DF696}"/>
              </a:ext>
            </a:extLst>
          </p:cNvPr>
          <p:cNvSpPr txBox="1">
            <a:spLocks/>
          </p:cNvSpPr>
          <p:nvPr/>
        </p:nvSpPr>
        <p:spPr>
          <a:xfrm>
            <a:off x="1690327" y="419221"/>
            <a:ext cx="3969441" cy="688009"/>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200" b="1" dirty="0">
                <a:solidFill>
                  <a:srgbClr val="E30A0A"/>
                </a:solidFill>
                <a:latin typeface="Times New Roman" panose="02020603050405020304" pitchFamily="18" charset="0"/>
                <a:cs typeface="Times New Roman" panose="02020603050405020304" pitchFamily="18" charset="0"/>
              </a:rPr>
              <a:t>Objectives</a:t>
            </a:r>
            <a:endParaRPr lang="en-US" sz="3200" b="1" dirty="0">
              <a:solidFill>
                <a:srgbClr val="E30A0A"/>
              </a:solidFill>
              <a:latin typeface="Times New Roman" panose="02020603050405020304" pitchFamily="18" charset="0"/>
              <a:cs typeface="Times New Roman" panose="02020603050405020304" pitchFamily="18" charset="0"/>
            </a:endParaRPr>
          </a:p>
        </p:txBody>
      </p:sp>
      <p:sp>
        <p:nvSpPr>
          <p:cNvPr id="7" name="Right Arrow 6"/>
          <p:cNvSpPr/>
          <p:nvPr/>
        </p:nvSpPr>
        <p:spPr>
          <a:xfrm>
            <a:off x="695324" y="350585"/>
            <a:ext cx="775667" cy="616900"/>
          </a:xfrm>
          <a:prstGeom prst="rightArrow">
            <a:avLst/>
          </a:pr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30199" y="1134515"/>
            <a:ext cx="5539802" cy="2535566"/>
          </a:xfrm>
          <a:custGeom>
            <a:avLst/>
            <a:gdLst>
              <a:gd name="connsiteX0" fmla="*/ 0 w 5539802"/>
              <a:gd name="connsiteY0" fmla="*/ 0 h 2535566"/>
              <a:gd name="connsiteX1" fmla="*/ 443184 w 5539802"/>
              <a:gd name="connsiteY1" fmla="*/ 0 h 2535566"/>
              <a:gd name="connsiteX2" fmla="*/ 886368 w 5539802"/>
              <a:gd name="connsiteY2" fmla="*/ 0 h 2535566"/>
              <a:gd name="connsiteX3" fmla="*/ 1551145 w 5539802"/>
              <a:gd name="connsiteY3" fmla="*/ 0 h 2535566"/>
              <a:gd name="connsiteX4" fmla="*/ 2049727 w 5539802"/>
              <a:gd name="connsiteY4" fmla="*/ 0 h 2535566"/>
              <a:gd name="connsiteX5" fmla="*/ 2492911 w 5539802"/>
              <a:gd name="connsiteY5" fmla="*/ 0 h 2535566"/>
              <a:gd name="connsiteX6" fmla="*/ 2991493 w 5539802"/>
              <a:gd name="connsiteY6" fmla="*/ 0 h 2535566"/>
              <a:gd name="connsiteX7" fmla="*/ 3545473 w 5539802"/>
              <a:gd name="connsiteY7" fmla="*/ 0 h 2535566"/>
              <a:gd name="connsiteX8" fmla="*/ 3988657 w 5539802"/>
              <a:gd name="connsiteY8" fmla="*/ 0 h 2535566"/>
              <a:gd name="connsiteX9" fmla="*/ 4598036 w 5539802"/>
              <a:gd name="connsiteY9" fmla="*/ 0 h 2535566"/>
              <a:gd name="connsiteX10" fmla="*/ 4985822 w 5539802"/>
              <a:gd name="connsiteY10" fmla="*/ 0 h 2535566"/>
              <a:gd name="connsiteX11" fmla="*/ 5539802 w 5539802"/>
              <a:gd name="connsiteY11" fmla="*/ 0 h 2535566"/>
              <a:gd name="connsiteX12" fmla="*/ 5539802 w 5539802"/>
              <a:gd name="connsiteY12" fmla="*/ 532469 h 2535566"/>
              <a:gd name="connsiteX13" fmla="*/ 5539802 w 5539802"/>
              <a:gd name="connsiteY13" fmla="*/ 1014226 h 2535566"/>
              <a:gd name="connsiteX14" fmla="*/ 5539802 w 5539802"/>
              <a:gd name="connsiteY14" fmla="*/ 1470628 h 2535566"/>
              <a:gd name="connsiteX15" fmla="*/ 5539802 w 5539802"/>
              <a:gd name="connsiteY15" fmla="*/ 2028453 h 2535566"/>
              <a:gd name="connsiteX16" fmla="*/ 5539802 w 5539802"/>
              <a:gd name="connsiteY16" fmla="*/ 2535566 h 2535566"/>
              <a:gd name="connsiteX17" fmla="*/ 4875026 w 5539802"/>
              <a:gd name="connsiteY17" fmla="*/ 2535566 h 2535566"/>
              <a:gd name="connsiteX18" fmla="*/ 4265648 w 5539802"/>
              <a:gd name="connsiteY18" fmla="*/ 2535566 h 2535566"/>
              <a:gd name="connsiteX19" fmla="*/ 3711667 w 5539802"/>
              <a:gd name="connsiteY19" fmla="*/ 2535566 h 2535566"/>
              <a:gd name="connsiteX20" fmla="*/ 3213085 w 5539802"/>
              <a:gd name="connsiteY20" fmla="*/ 2535566 h 2535566"/>
              <a:gd name="connsiteX21" fmla="*/ 2825299 w 5539802"/>
              <a:gd name="connsiteY21" fmla="*/ 2535566 h 2535566"/>
              <a:gd name="connsiteX22" fmla="*/ 2382115 w 5539802"/>
              <a:gd name="connsiteY22" fmla="*/ 2535566 h 2535566"/>
              <a:gd name="connsiteX23" fmla="*/ 1883533 w 5539802"/>
              <a:gd name="connsiteY23" fmla="*/ 2535566 h 2535566"/>
              <a:gd name="connsiteX24" fmla="*/ 1384951 w 5539802"/>
              <a:gd name="connsiteY24" fmla="*/ 2535566 h 2535566"/>
              <a:gd name="connsiteX25" fmla="*/ 775572 w 5539802"/>
              <a:gd name="connsiteY25" fmla="*/ 2535566 h 2535566"/>
              <a:gd name="connsiteX26" fmla="*/ 0 w 5539802"/>
              <a:gd name="connsiteY26" fmla="*/ 2535566 h 2535566"/>
              <a:gd name="connsiteX27" fmla="*/ 0 w 5539802"/>
              <a:gd name="connsiteY27" fmla="*/ 1977741 h 2535566"/>
              <a:gd name="connsiteX28" fmla="*/ 0 w 5539802"/>
              <a:gd name="connsiteY28" fmla="*/ 1495984 h 2535566"/>
              <a:gd name="connsiteX29" fmla="*/ 0 w 5539802"/>
              <a:gd name="connsiteY29" fmla="*/ 938159 h 2535566"/>
              <a:gd name="connsiteX30" fmla="*/ 0 w 5539802"/>
              <a:gd name="connsiteY30" fmla="*/ 0 h 2535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539802" h="2535566" fill="none" extrusionOk="0">
                <a:moveTo>
                  <a:pt x="0" y="0"/>
                </a:moveTo>
                <a:cubicBezTo>
                  <a:pt x="89672" y="-42546"/>
                  <a:pt x="297923" y="43113"/>
                  <a:pt x="443184" y="0"/>
                </a:cubicBezTo>
                <a:cubicBezTo>
                  <a:pt x="588445" y="-43113"/>
                  <a:pt x="753607" y="26079"/>
                  <a:pt x="886368" y="0"/>
                </a:cubicBezTo>
                <a:cubicBezTo>
                  <a:pt x="1019129" y="-26079"/>
                  <a:pt x="1396093" y="59374"/>
                  <a:pt x="1551145" y="0"/>
                </a:cubicBezTo>
                <a:cubicBezTo>
                  <a:pt x="1706197" y="-59374"/>
                  <a:pt x="1822954" y="7082"/>
                  <a:pt x="2049727" y="0"/>
                </a:cubicBezTo>
                <a:cubicBezTo>
                  <a:pt x="2276500" y="-7082"/>
                  <a:pt x="2353396" y="5024"/>
                  <a:pt x="2492911" y="0"/>
                </a:cubicBezTo>
                <a:cubicBezTo>
                  <a:pt x="2632426" y="-5024"/>
                  <a:pt x="2839253" y="1205"/>
                  <a:pt x="2991493" y="0"/>
                </a:cubicBezTo>
                <a:cubicBezTo>
                  <a:pt x="3143733" y="-1205"/>
                  <a:pt x="3359248" y="62912"/>
                  <a:pt x="3545473" y="0"/>
                </a:cubicBezTo>
                <a:cubicBezTo>
                  <a:pt x="3731698" y="-62912"/>
                  <a:pt x="3844622" y="46494"/>
                  <a:pt x="3988657" y="0"/>
                </a:cubicBezTo>
                <a:cubicBezTo>
                  <a:pt x="4132692" y="-46494"/>
                  <a:pt x="4340452" y="69961"/>
                  <a:pt x="4598036" y="0"/>
                </a:cubicBezTo>
                <a:cubicBezTo>
                  <a:pt x="4855620" y="-69961"/>
                  <a:pt x="4894721" y="3985"/>
                  <a:pt x="4985822" y="0"/>
                </a:cubicBezTo>
                <a:cubicBezTo>
                  <a:pt x="5076923" y="-3985"/>
                  <a:pt x="5386141" y="26377"/>
                  <a:pt x="5539802" y="0"/>
                </a:cubicBezTo>
                <a:cubicBezTo>
                  <a:pt x="5540091" y="116953"/>
                  <a:pt x="5519719" y="292579"/>
                  <a:pt x="5539802" y="532469"/>
                </a:cubicBezTo>
                <a:cubicBezTo>
                  <a:pt x="5559885" y="772359"/>
                  <a:pt x="5492049" y="779611"/>
                  <a:pt x="5539802" y="1014226"/>
                </a:cubicBezTo>
                <a:cubicBezTo>
                  <a:pt x="5587555" y="1248841"/>
                  <a:pt x="5504870" y="1286457"/>
                  <a:pt x="5539802" y="1470628"/>
                </a:cubicBezTo>
                <a:cubicBezTo>
                  <a:pt x="5574734" y="1654799"/>
                  <a:pt x="5503722" y="1776325"/>
                  <a:pt x="5539802" y="2028453"/>
                </a:cubicBezTo>
                <a:cubicBezTo>
                  <a:pt x="5575882" y="2280582"/>
                  <a:pt x="5516203" y="2301345"/>
                  <a:pt x="5539802" y="2535566"/>
                </a:cubicBezTo>
                <a:cubicBezTo>
                  <a:pt x="5242530" y="2555710"/>
                  <a:pt x="5197824" y="2459373"/>
                  <a:pt x="4875026" y="2535566"/>
                </a:cubicBezTo>
                <a:cubicBezTo>
                  <a:pt x="4552228" y="2611759"/>
                  <a:pt x="4545221" y="2520546"/>
                  <a:pt x="4265648" y="2535566"/>
                </a:cubicBezTo>
                <a:cubicBezTo>
                  <a:pt x="3986075" y="2550586"/>
                  <a:pt x="3903405" y="2530514"/>
                  <a:pt x="3711667" y="2535566"/>
                </a:cubicBezTo>
                <a:cubicBezTo>
                  <a:pt x="3519929" y="2540618"/>
                  <a:pt x="3437899" y="2518976"/>
                  <a:pt x="3213085" y="2535566"/>
                </a:cubicBezTo>
                <a:cubicBezTo>
                  <a:pt x="2988271" y="2552156"/>
                  <a:pt x="2976119" y="2519075"/>
                  <a:pt x="2825299" y="2535566"/>
                </a:cubicBezTo>
                <a:cubicBezTo>
                  <a:pt x="2674479" y="2552057"/>
                  <a:pt x="2571314" y="2484084"/>
                  <a:pt x="2382115" y="2535566"/>
                </a:cubicBezTo>
                <a:cubicBezTo>
                  <a:pt x="2192916" y="2587048"/>
                  <a:pt x="2038845" y="2502244"/>
                  <a:pt x="1883533" y="2535566"/>
                </a:cubicBezTo>
                <a:cubicBezTo>
                  <a:pt x="1728221" y="2568888"/>
                  <a:pt x="1506142" y="2507449"/>
                  <a:pt x="1384951" y="2535566"/>
                </a:cubicBezTo>
                <a:cubicBezTo>
                  <a:pt x="1263760" y="2563683"/>
                  <a:pt x="995785" y="2467624"/>
                  <a:pt x="775572" y="2535566"/>
                </a:cubicBezTo>
                <a:cubicBezTo>
                  <a:pt x="555359" y="2603508"/>
                  <a:pt x="263885" y="2472141"/>
                  <a:pt x="0" y="2535566"/>
                </a:cubicBezTo>
                <a:cubicBezTo>
                  <a:pt x="-66522" y="2275287"/>
                  <a:pt x="8436" y="2238259"/>
                  <a:pt x="0" y="1977741"/>
                </a:cubicBezTo>
                <a:cubicBezTo>
                  <a:pt x="-8436" y="1717223"/>
                  <a:pt x="49159" y="1644563"/>
                  <a:pt x="0" y="1495984"/>
                </a:cubicBezTo>
                <a:cubicBezTo>
                  <a:pt x="-49159" y="1347405"/>
                  <a:pt x="18463" y="1157780"/>
                  <a:pt x="0" y="938159"/>
                </a:cubicBezTo>
                <a:cubicBezTo>
                  <a:pt x="-18463" y="718538"/>
                  <a:pt x="35949" y="202601"/>
                  <a:pt x="0" y="0"/>
                </a:cubicBezTo>
                <a:close/>
              </a:path>
              <a:path w="5539802" h="2535566" stroke="0" extrusionOk="0">
                <a:moveTo>
                  <a:pt x="0" y="0"/>
                </a:moveTo>
                <a:cubicBezTo>
                  <a:pt x="234318" y="-6390"/>
                  <a:pt x="384039" y="64011"/>
                  <a:pt x="609378" y="0"/>
                </a:cubicBezTo>
                <a:cubicBezTo>
                  <a:pt x="834717" y="-64011"/>
                  <a:pt x="816133" y="27581"/>
                  <a:pt x="997164" y="0"/>
                </a:cubicBezTo>
                <a:cubicBezTo>
                  <a:pt x="1178195" y="-27581"/>
                  <a:pt x="1271688" y="54314"/>
                  <a:pt x="1495747" y="0"/>
                </a:cubicBezTo>
                <a:cubicBezTo>
                  <a:pt x="1719806" y="-54314"/>
                  <a:pt x="1763362" y="14769"/>
                  <a:pt x="1994329" y="0"/>
                </a:cubicBezTo>
                <a:cubicBezTo>
                  <a:pt x="2225296" y="-14769"/>
                  <a:pt x="2330260" y="32301"/>
                  <a:pt x="2492911" y="0"/>
                </a:cubicBezTo>
                <a:cubicBezTo>
                  <a:pt x="2655562" y="-32301"/>
                  <a:pt x="2927108" y="46599"/>
                  <a:pt x="3102289" y="0"/>
                </a:cubicBezTo>
                <a:cubicBezTo>
                  <a:pt x="3277470" y="-46599"/>
                  <a:pt x="3444684" y="49694"/>
                  <a:pt x="3600871" y="0"/>
                </a:cubicBezTo>
                <a:cubicBezTo>
                  <a:pt x="3757058" y="-49694"/>
                  <a:pt x="3893361" y="21007"/>
                  <a:pt x="3988657" y="0"/>
                </a:cubicBezTo>
                <a:cubicBezTo>
                  <a:pt x="4083953" y="-21007"/>
                  <a:pt x="4235680" y="34912"/>
                  <a:pt x="4376444" y="0"/>
                </a:cubicBezTo>
                <a:cubicBezTo>
                  <a:pt x="4517208" y="-34912"/>
                  <a:pt x="4876716" y="75178"/>
                  <a:pt x="5041220" y="0"/>
                </a:cubicBezTo>
                <a:cubicBezTo>
                  <a:pt x="5205724" y="-75178"/>
                  <a:pt x="5291114" y="53998"/>
                  <a:pt x="5539802" y="0"/>
                </a:cubicBezTo>
                <a:cubicBezTo>
                  <a:pt x="5591755" y="215116"/>
                  <a:pt x="5533047" y="274655"/>
                  <a:pt x="5539802" y="532469"/>
                </a:cubicBezTo>
                <a:cubicBezTo>
                  <a:pt x="5546557" y="790283"/>
                  <a:pt x="5492089" y="800269"/>
                  <a:pt x="5539802" y="1014226"/>
                </a:cubicBezTo>
                <a:cubicBezTo>
                  <a:pt x="5587515" y="1228183"/>
                  <a:pt x="5511121" y="1367417"/>
                  <a:pt x="5539802" y="1572051"/>
                </a:cubicBezTo>
                <a:cubicBezTo>
                  <a:pt x="5568483" y="1776685"/>
                  <a:pt x="5460879" y="2132016"/>
                  <a:pt x="5539802" y="2535566"/>
                </a:cubicBezTo>
                <a:cubicBezTo>
                  <a:pt x="5391220" y="2575459"/>
                  <a:pt x="5260448" y="2511220"/>
                  <a:pt x="5152016" y="2535566"/>
                </a:cubicBezTo>
                <a:cubicBezTo>
                  <a:pt x="5043584" y="2559912"/>
                  <a:pt x="4835867" y="2482158"/>
                  <a:pt x="4653434" y="2535566"/>
                </a:cubicBezTo>
                <a:cubicBezTo>
                  <a:pt x="4471001" y="2588974"/>
                  <a:pt x="4373125" y="2498654"/>
                  <a:pt x="4265648" y="2535566"/>
                </a:cubicBezTo>
                <a:cubicBezTo>
                  <a:pt x="4158171" y="2572478"/>
                  <a:pt x="4001233" y="2489492"/>
                  <a:pt x="3877861" y="2535566"/>
                </a:cubicBezTo>
                <a:cubicBezTo>
                  <a:pt x="3754489" y="2581640"/>
                  <a:pt x="3638299" y="2513575"/>
                  <a:pt x="3434677" y="2535566"/>
                </a:cubicBezTo>
                <a:cubicBezTo>
                  <a:pt x="3231055" y="2557557"/>
                  <a:pt x="3043546" y="2512297"/>
                  <a:pt x="2880697" y="2535566"/>
                </a:cubicBezTo>
                <a:cubicBezTo>
                  <a:pt x="2717848" y="2558835"/>
                  <a:pt x="2522538" y="2530427"/>
                  <a:pt x="2215921" y="2535566"/>
                </a:cubicBezTo>
                <a:cubicBezTo>
                  <a:pt x="1909304" y="2540705"/>
                  <a:pt x="1798044" y="2481902"/>
                  <a:pt x="1661941" y="2535566"/>
                </a:cubicBezTo>
                <a:cubicBezTo>
                  <a:pt x="1525838" y="2589230"/>
                  <a:pt x="1228709" y="2483814"/>
                  <a:pt x="1107960" y="2535566"/>
                </a:cubicBezTo>
                <a:cubicBezTo>
                  <a:pt x="987211" y="2587318"/>
                  <a:pt x="731416" y="2474255"/>
                  <a:pt x="553980" y="2535566"/>
                </a:cubicBezTo>
                <a:cubicBezTo>
                  <a:pt x="376544" y="2596877"/>
                  <a:pt x="142328" y="2486572"/>
                  <a:pt x="0" y="2535566"/>
                </a:cubicBezTo>
                <a:cubicBezTo>
                  <a:pt x="-23130" y="2409566"/>
                  <a:pt x="29523" y="2171884"/>
                  <a:pt x="0" y="2079164"/>
                </a:cubicBezTo>
                <a:cubicBezTo>
                  <a:pt x="-29523" y="1986444"/>
                  <a:pt x="30769" y="1793172"/>
                  <a:pt x="0" y="1622762"/>
                </a:cubicBezTo>
                <a:cubicBezTo>
                  <a:pt x="-30769" y="1452352"/>
                  <a:pt x="60726" y="1199452"/>
                  <a:pt x="0" y="1090293"/>
                </a:cubicBezTo>
                <a:cubicBezTo>
                  <a:pt x="-60726" y="981134"/>
                  <a:pt x="28914" y="839522"/>
                  <a:pt x="0" y="633891"/>
                </a:cubicBezTo>
                <a:cubicBezTo>
                  <a:pt x="-28914" y="428260"/>
                  <a:pt x="44419" y="220429"/>
                  <a:pt x="0" y="0"/>
                </a:cubicBezTo>
                <a:close/>
              </a:path>
            </a:pathLst>
          </a:custGeom>
          <a:ln w="38100">
            <a:extLst>
              <a:ext uri="{C807C97D-BFC1-408E-A445-0C87EB9F89A2}">
                <ask:lineSketchStyleProps xmlns:ask="http://schemas.microsoft.com/office/drawing/2018/sketchyshapes" xmlns="" sd="1297282735">
                  <a:prstGeom prst="rect">
                    <a:avLst/>
                  </a:prstGeom>
                  <ask:type>
                    <ask:lineSketchScribble/>
                  </ask:type>
                </ask:lineSketchStyleProps>
              </a:ext>
            </a:extLst>
          </a:ln>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lgn="just">
              <a:lnSpc>
                <a:spcPct val="150000"/>
              </a:lnSpc>
              <a:buClr>
                <a:srgbClr val="FF0000"/>
              </a:buClr>
              <a:buFont typeface="Wingdings" panose="05000000000000000000" pitchFamily="2" charset="2"/>
              <a:buChar char="q"/>
            </a:pPr>
            <a:r>
              <a:rPr lang="en-US" sz="1800" dirty="0">
                <a:solidFill>
                  <a:srgbClr val="000000"/>
                </a:solidFill>
                <a:effectLst/>
                <a:latin typeface="Times New Roman" panose="02020603050405020304" pitchFamily="18" charset="0"/>
                <a:ea typeface="Times New Roman" panose="02020603050405020304" pitchFamily="18" charset="0"/>
              </a:rPr>
              <a:t>To identify key factors for effectively building an autoencoder model by conducting a comprehensive literature review of peer-reviewed articles published within the last five years, completing the review within two months to improve clustering performance using autoencoder models.</a:t>
            </a:r>
            <a:endParaRPr lang="en-US" sz="2000" dirty="0">
              <a:latin typeface="Times New Roman" panose="02020603050405020304" pitchFamily="18" charset="0"/>
              <a:cs typeface="Times New Roman" panose="02020603050405020304" pitchFamily="18" charset="0"/>
            </a:endParaRPr>
          </a:p>
        </p:txBody>
      </p:sp>
      <p:pic>
        <p:nvPicPr>
          <p:cNvPr id="4" name="Picture 2" descr="University of Sunderland - Wikipedia">
            <a:extLst>
              <a:ext uri="{FF2B5EF4-FFF2-40B4-BE49-F238E27FC236}">
                <a16:creationId xmlns:a16="http://schemas.microsoft.com/office/drawing/2014/main" id="{19611580-A1A8-6715-D96F-648DD3F1A98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41540" y="6423"/>
            <a:ext cx="2413031" cy="112809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C64AE88-7096-5AE4-0065-BF8569E41A52}"/>
              </a:ext>
            </a:extLst>
          </p:cNvPr>
          <p:cNvSpPr txBox="1"/>
          <p:nvPr/>
        </p:nvSpPr>
        <p:spPr>
          <a:xfrm>
            <a:off x="6318473" y="1107230"/>
            <a:ext cx="5389989" cy="2535566"/>
          </a:xfrm>
          <a:custGeom>
            <a:avLst/>
            <a:gdLst>
              <a:gd name="connsiteX0" fmla="*/ 0 w 5389989"/>
              <a:gd name="connsiteY0" fmla="*/ 0 h 2535566"/>
              <a:gd name="connsiteX1" fmla="*/ 706687 w 5389989"/>
              <a:gd name="connsiteY1" fmla="*/ 0 h 2535566"/>
              <a:gd name="connsiteX2" fmla="*/ 1359475 w 5389989"/>
              <a:gd name="connsiteY2" fmla="*/ 0 h 2535566"/>
              <a:gd name="connsiteX3" fmla="*/ 2012263 w 5389989"/>
              <a:gd name="connsiteY3" fmla="*/ 0 h 2535566"/>
              <a:gd name="connsiteX4" fmla="*/ 2557250 w 5389989"/>
              <a:gd name="connsiteY4" fmla="*/ 0 h 2535566"/>
              <a:gd name="connsiteX5" fmla="*/ 3102238 w 5389989"/>
              <a:gd name="connsiteY5" fmla="*/ 0 h 2535566"/>
              <a:gd name="connsiteX6" fmla="*/ 3539426 w 5389989"/>
              <a:gd name="connsiteY6" fmla="*/ 0 h 2535566"/>
              <a:gd name="connsiteX7" fmla="*/ 4084414 w 5389989"/>
              <a:gd name="connsiteY7" fmla="*/ 0 h 2535566"/>
              <a:gd name="connsiteX8" fmla="*/ 4521602 w 5389989"/>
              <a:gd name="connsiteY8" fmla="*/ 0 h 2535566"/>
              <a:gd name="connsiteX9" fmla="*/ 5389989 w 5389989"/>
              <a:gd name="connsiteY9" fmla="*/ 0 h 2535566"/>
              <a:gd name="connsiteX10" fmla="*/ 5389989 w 5389989"/>
              <a:gd name="connsiteY10" fmla="*/ 532469 h 2535566"/>
              <a:gd name="connsiteX11" fmla="*/ 5389989 w 5389989"/>
              <a:gd name="connsiteY11" fmla="*/ 988871 h 2535566"/>
              <a:gd name="connsiteX12" fmla="*/ 5389989 w 5389989"/>
              <a:gd name="connsiteY12" fmla="*/ 1521340 h 2535566"/>
              <a:gd name="connsiteX13" fmla="*/ 5389989 w 5389989"/>
              <a:gd name="connsiteY13" fmla="*/ 1977741 h 2535566"/>
              <a:gd name="connsiteX14" fmla="*/ 5389989 w 5389989"/>
              <a:gd name="connsiteY14" fmla="*/ 2535566 h 2535566"/>
              <a:gd name="connsiteX15" fmla="*/ 4898901 w 5389989"/>
              <a:gd name="connsiteY15" fmla="*/ 2535566 h 2535566"/>
              <a:gd name="connsiteX16" fmla="*/ 4461713 w 5389989"/>
              <a:gd name="connsiteY16" fmla="*/ 2535566 h 2535566"/>
              <a:gd name="connsiteX17" fmla="*/ 3916725 w 5389989"/>
              <a:gd name="connsiteY17" fmla="*/ 2535566 h 2535566"/>
              <a:gd name="connsiteX18" fmla="*/ 3263938 w 5389989"/>
              <a:gd name="connsiteY18" fmla="*/ 2535566 h 2535566"/>
              <a:gd name="connsiteX19" fmla="*/ 2718950 w 5389989"/>
              <a:gd name="connsiteY19" fmla="*/ 2535566 h 2535566"/>
              <a:gd name="connsiteX20" fmla="*/ 2120062 w 5389989"/>
              <a:gd name="connsiteY20" fmla="*/ 2535566 h 2535566"/>
              <a:gd name="connsiteX21" fmla="*/ 1413375 w 5389989"/>
              <a:gd name="connsiteY21" fmla="*/ 2535566 h 2535566"/>
              <a:gd name="connsiteX22" fmla="*/ 922287 w 5389989"/>
              <a:gd name="connsiteY22" fmla="*/ 2535566 h 2535566"/>
              <a:gd name="connsiteX23" fmla="*/ 0 w 5389989"/>
              <a:gd name="connsiteY23" fmla="*/ 2535566 h 2535566"/>
              <a:gd name="connsiteX24" fmla="*/ 0 w 5389989"/>
              <a:gd name="connsiteY24" fmla="*/ 2104520 h 2535566"/>
              <a:gd name="connsiteX25" fmla="*/ 0 w 5389989"/>
              <a:gd name="connsiteY25" fmla="*/ 1673474 h 2535566"/>
              <a:gd name="connsiteX26" fmla="*/ 0 w 5389989"/>
              <a:gd name="connsiteY26" fmla="*/ 1115649 h 2535566"/>
              <a:gd name="connsiteX27" fmla="*/ 0 w 5389989"/>
              <a:gd name="connsiteY27" fmla="*/ 633892 h 2535566"/>
              <a:gd name="connsiteX28" fmla="*/ 0 w 5389989"/>
              <a:gd name="connsiteY28" fmla="*/ 0 h 2535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89989" h="2535566" fill="none" extrusionOk="0">
                <a:moveTo>
                  <a:pt x="0" y="0"/>
                </a:moveTo>
                <a:cubicBezTo>
                  <a:pt x="152650" y="-41834"/>
                  <a:pt x="548780" y="29521"/>
                  <a:pt x="706687" y="0"/>
                </a:cubicBezTo>
                <a:cubicBezTo>
                  <a:pt x="864594" y="-29521"/>
                  <a:pt x="1197484" y="72572"/>
                  <a:pt x="1359475" y="0"/>
                </a:cubicBezTo>
                <a:cubicBezTo>
                  <a:pt x="1521466" y="-72572"/>
                  <a:pt x="1795452" y="3504"/>
                  <a:pt x="2012263" y="0"/>
                </a:cubicBezTo>
                <a:cubicBezTo>
                  <a:pt x="2229074" y="-3504"/>
                  <a:pt x="2426715" y="62103"/>
                  <a:pt x="2557250" y="0"/>
                </a:cubicBezTo>
                <a:cubicBezTo>
                  <a:pt x="2687785" y="-62103"/>
                  <a:pt x="2932739" y="64467"/>
                  <a:pt x="3102238" y="0"/>
                </a:cubicBezTo>
                <a:cubicBezTo>
                  <a:pt x="3271737" y="-64467"/>
                  <a:pt x="3339963" y="44677"/>
                  <a:pt x="3539426" y="0"/>
                </a:cubicBezTo>
                <a:cubicBezTo>
                  <a:pt x="3738889" y="-44677"/>
                  <a:pt x="3892049" y="27541"/>
                  <a:pt x="4084414" y="0"/>
                </a:cubicBezTo>
                <a:cubicBezTo>
                  <a:pt x="4276779" y="-27541"/>
                  <a:pt x="4376372" y="15793"/>
                  <a:pt x="4521602" y="0"/>
                </a:cubicBezTo>
                <a:cubicBezTo>
                  <a:pt x="4666832" y="-15793"/>
                  <a:pt x="5097384" y="57349"/>
                  <a:pt x="5389989" y="0"/>
                </a:cubicBezTo>
                <a:cubicBezTo>
                  <a:pt x="5437379" y="216594"/>
                  <a:pt x="5342788" y="340849"/>
                  <a:pt x="5389989" y="532469"/>
                </a:cubicBezTo>
                <a:cubicBezTo>
                  <a:pt x="5437190" y="724089"/>
                  <a:pt x="5368742" y="809013"/>
                  <a:pt x="5389989" y="988871"/>
                </a:cubicBezTo>
                <a:cubicBezTo>
                  <a:pt x="5411236" y="1168729"/>
                  <a:pt x="5380873" y="1330231"/>
                  <a:pt x="5389989" y="1521340"/>
                </a:cubicBezTo>
                <a:cubicBezTo>
                  <a:pt x="5399105" y="1712449"/>
                  <a:pt x="5386614" y="1841119"/>
                  <a:pt x="5389989" y="1977741"/>
                </a:cubicBezTo>
                <a:cubicBezTo>
                  <a:pt x="5393364" y="2114363"/>
                  <a:pt x="5358703" y="2393792"/>
                  <a:pt x="5389989" y="2535566"/>
                </a:cubicBezTo>
                <a:cubicBezTo>
                  <a:pt x="5160244" y="2568340"/>
                  <a:pt x="5042164" y="2478793"/>
                  <a:pt x="4898901" y="2535566"/>
                </a:cubicBezTo>
                <a:cubicBezTo>
                  <a:pt x="4755638" y="2592339"/>
                  <a:pt x="4550592" y="2534990"/>
                  <a:pt x="4461713" y="2535566"/>
                </a:cubicBezTo>
                <a:cubicBezTo>
                  <a:pt x="4372834" y="2536142"/>
                  <a:pt x="4106870" y="2503951"/>
                  <a:pt x="3916725" y="2535566"/>
                </a:cubicBezTo>
                <a:cubicBezTo>
                  <a:pt x="3726580" y="2567181"/>
                  <a:pt x="3502568" y="2476464"/>
                  <a:pt x="3263938" y="2535566"/>
                </a:cubicBezTo>
                <a:cubicBezTo>
                  <a:pt x="3025308" y="2594668"/>
                  <a:pt x="2953825" y="2498824"/>
                  <a:pt x="2718950" y="2535566"/>
                </a:cubicBezTo>
                <a:cubicBezTo>
                  <a:pt x="2484075" y="2572308"/>
                  <a:pt x="2243147" y="2478472"/>
                  <a:pt x="2120062" y="2535566"/>
                </a:cubicBezTo>
                <a:cubicBezTo>
                  <a:pt x="1996977" y="2592660"/>
                  <a:pt x="1568379" y="2526771"/>
                  <a:pt x="1413375" y="2535566"/>
                </a:cubicBezTo>
                <a:cubicBezTo>
                  <a:pt x="1258371" y="2544361"/>
                  <a:pt x="1089062" y="2504374"/>
                  <a:pt x="922287" y="2535566"/>
                </a:cubicBezTo>
                <a:cubicBezTo>
                  <a:pt x="755512" y="2566758"/>
                  <a:pt x="224350" y="2486289"/>
                  <a:pt x="0" y="2535566"/>
                </a:cubicBezTo>
                <a:cubicBezTo>
                  <a:pt x="-27316" y="2421296"/>
                  <a:pt x="14485" y="2312861"/>
                  <a:pt x="0" y="2104520"/>
                </a:cubicBezTo>
                <a:cubicBezTo>
                  <a:pt x="-14485" y="1896179"/>
                  <a:pt x="49556" y="1840304"/>
                  <a:pt x="0" y="1673474"/>
                </a:cubicBezTo>
                <a:cubicBezTo>
                  <a:pt x="-49556" y="1506644"/>
                  <a:pt x="29369" y="1339184"/>
                  <a:pt x="0" y="1115649"/>
                </a:cubicBezTo>
                <a:cubicBezTo>
                  <a:pt x="-29369" y="892114"/>
                  <a:pt x="19609" y="852361"/>
                  <a:pt x="0" y="633892"/>
                </a:cubicBezTo>
                <a:cubicBezTo>
                  <a:pt x="-19609" y="415423"/>
                  <a:pt x="67534" y="159743"/>
                  <a:pt x="0" y="0"/>
                </a:cubicBezTo>
                <a:close/>
              </a:path>
              <a:path w="5389989" h="2535566" stroke="0" extrusionOk="0">
                <a:moveTo>
                  <a:pt x="0" y="0"/>
                </a:moveTo>
                <a:cubicBezTo>
                  <a:pt x="164677" y="-63324"/>
                  <a:pt x="307493" y="3953"/>
                  <a:pt x="598888" y="0"/>
                </a:cubicBezTo>
                <a:cubicBezTo>
                  <a:pt x="890283" y="-3953"/>
                  <a:pt x="991750" y="16977"/>
                  <a:pt x="1089976" y="0"/>
                </a:cubicBezTo>
                <a:cubicBezTo>
                  <a:pt x="1188202" y="-16977"/>
                  <a:pt x="1455381" y="35571"/>
                  <a:pt x="1688863" y="0"/>
                </a:cubicBezTo>
                <a:cubicBezTo>
                  <a:pt x="1922345" y="-35571"/>
                  <a:pt x="2127790" y="13988"/>
                  <a:pt x="2287751" y="0"/>
                </a:cubicBezTo>
                <a:cubicBezTo>
                  <a:pt x="2447712" y="-13988"/>
                  <a:pt x="2564481" y="36423"/>
                  <a:pt x="2778839" y="0"/>
                </a:cubicBezTo>
                <a:cubicBezTo>
                  <a:pt x="2993197" y="-36423"/>
                  <a:pt x="3092067" y="16706"/>
                  <a:pt x="3323827" y="0"/>
                </a:cubicBezTo>
                <a:cubicBezTo>
                  <a:pt x="3555587" y="-16706"/>
                  <a:pt x="3703242" y="4104"/>
                  <a:pt x="3814914" y="0"/>
                </a:cubicBezTo>
                <a:cubicBezTo>
                  <a:pt x="3926586" y="-4104"/>
                  <a:pt x="4174026" y="8118"/>
                  <a:pt x="4413802" y="0"/>
                </a:cubicBezTo>
                <a:cubicBezTo>
                  <a:pt x="4653578" y="-8118"/>
                  <a:pt x="4924559" y="64625"/>
                  <a:pt x="5389989" y="0"/>
                </a:cubicBezTo>
                <a:cubicBezTo>
                  <a:pt x="5399890" y="194055"/>
                  <a:pt x="5387608" y="246205"/>
                  <a:pt x="5389989" y="431046"/>
                </a:cubicBezTo>
                <a:cubicBezTo>
                  <a:pt x="5392370" y="615887"/>
                  <a:pt x="5386054" y="728762"/>
                  <a:pt x="5389989" y="862092"/>
                </a:cubicBezTo>
                <a:cubicBezTo>
                  <a:pt x="5393924" y="995422"/>
                  <a:pt x="5361813" y="1154309"/>
                  <a:pt x="5389989" y="1293139"/>
                </a:cubicBezTo>
                <a:cubicBezTo>
                  <a:pt x="5418165" y="1431969"/>
                  <a:pt x="5352226" y="1571383"/>
                  <a:pt x="5389989" y="1825608"/>
                </a:cubicBezTo>
                <a:cubicBezTo>
                  <a:pt x="5427752" y="2079833"/>
                  <a:pt x="5319934" y="2295987"/>
                  <a:pt x="5389989" y="2535566"/>
                </a:cubicBezTo>
                <a:cubicBezTo>
                  <a:pt x="5165907" y="2590276"/>
                  <a:pt x="5062868" y="2504018"/>
                  <a:pt x="4845001" y="2535566"/>
                </a:cubicBezTo>
                <a:cubicBezTo>
                  <a:pt x="4627134" y="2567114"/>
                  <a:pt x="4419396" y="2472140"/>
                  <a:pt x="4300013" y="2535566"/>
                </a:cubicBezTo>
                <a:cubicBezTo>
                  <a:pt x="4180630" y="2598992"/>
                  <a:pt x="3990806" y="2503964"/>
                  <a:pt x="3862825" y="2535566"/>
                </a:cubicBezTo>
                <a:cubicBezTo>
                  <a:pt x="3734844" y="2567168"/>
                  <a:pt x="3596223" y="2504917"/>
                  <a:pt x="3371738" y="2535566"/>
                </a:cubicBezTo>
                <a:cubicBezTo>
                  <a:pt x="3147253" y="2566215"/>
                  <a:pt x="3014676" y="2518823"/>
                  <a:pt x="2665050" y="2535566"/>
                </a:cubicBezTo>
                <a:cubicBezTo>
                  <a:pt x="2315424" y="2552309"/>
                  <a:pt x="2299528" y="2479625"/>
                  <a:pt x="2120062" y="2535566"/>
                </a:cubicBezTo>
                <a:cubicBezTo>
                  <a:pt x="1940596" y="2591507"/>
                  <a:pt x="1703734" y="2471446"/>
                  <a:pt x="1413375" y="2535566"/>
                </a:cubicBezTo>
                <a:cubicBezTo>
                  <a:pt x="1123016" y="2599686"/>
                  <a:pt x="1130276" y="2517158"/>
                  <a:pt x="976187" y="2535566"/>
                </a:cubicBezTo>
                <a:cubicBezTo>
                  <a:pt x="822098" y="2553974"/>
                  <a:pt x="416229" y="2419928"/>
                  <a:pt x="0" y="2535566"/>
                </a:cubicBezTo>
                <a:cubicBezTo>
                  <a:pt x="-33660" y="2364612"/>
                  <a:pt x="16594" y="2248145"/>
                  <a:pt x="0" y="2104520"/>
                </a:cubicBezTo>
                <a:cubicBezTo>
                  <a:pt x="-16594" y="1960895"/>
                  <a:pt x="49257" y="1717402"/>
                  <a:pt x="0" y="1546695"/>
                </a:cubicBezTo>
                <a:cubicBezTo>
                  <a:pt x="-49257" y="1375988"/>
                  <a:pt x="28972" y="1253879"/>
                  <a:pt x="0" y="1039582"/>
                </a:cubicBezTo>
                <a:cubicBezTo>
                  <a:pt x="-28972" y="825285"/>
                  <a:pt x="9779" y="756182"/>
                  <a:pt x="0" y="532469"/>
                </a:cubicBezTo>
                <a:cubicBezTo>
                  <a:pt x="-9779" y="308756"/>
                  <a:pt x="9184" y="146571"/>
                  <a:pt x="0" y="0"/>
                </a:cubicBezTo>
                <a:close/>
              </a:path>
            </a:pathLst>
          </a:custGeom>
          <a:ln w="38100">
            <a:solidFill>
              <a:schemeClr val="accent5">
                <a:lumMod val="50000"/>
              </a:schemeClr>
            </a:solidFill>
            <a:extLst>
              <a:ext uri="{C807C97D-BFC1-408E-A445-0C87EB9F89A2}">
                <ask:lineSketchStyleProps xmlns:ask="http://schemas.microsoft.com/office/drawing/2018/sketchyshapes" xmlns="" sd="1395700624">
                  <a:prstGeom prst="rect">
                    <a:avLst/>
                  </a:prstGeom>
                  <ask:type>
                    <ask:lineSketchScribble/>
                  </ask:type>
                </ask:lineSketchStyleProps>
              </a:ext>
            </a:extLst>
          </a:ln>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marR="0" lvl="0" indent="-285750" algn="just">
              <a:lnSpc>
                <a:spcPct val="150000"/>
              </a:lnSpc>
              <a:spcBef>
                <a:spcPts val="0"/>
              </a:spcBef>
              <a:spcAft>
                <a:spcPts val="0"/>
              </a:spcAft>
              <a:buFont typeface="Wingdings" panose="05000000000000000000" pitchFamily="2" charset="2"/>
              <a:buChar char="q"/>
            </a:pPr>
            <a:r>
              <a:rPr lang="en-GB" sz="1800" dirty="0">
                <a:solidFill>
                  <a:schemeClr val="tx1"/>
                </a:solidFill>
                <a:effectLst/>
                <a:latin typeface="Times New Roman" panose="02020603050405020304" pitchFamily="18" charset="0"/>
                <a:ea typeface="Times New Roman" panose="02020603050405020304" pitchFamily="18" charset="0"/>
              </a:rPr>
              <a:t>To investigate and compare the performance of Autoencoders, Variational Autoencoders (VAE) and classic clustering algorithm in customer segmentation model using silhouette score, and Calinski-</a:t>
            </a:r>
            <a:r>
              <a:rPr lang="en-GB" sz="1800" dirty="0" err="1">
                <a:solidFill>
                  <a:schemeClr val="tx1"/>
                </a:solidFill>
                <a:effectLst/>
                <a:latin typeface="Times New Roman" panose="02020603050405020304" pitchFamily="18" charset="0"/>
                <a:ea typeface="Times New Roman" panose="02020603050405020304" pitchFamily="18" charset="0"/>
              </a:rPr>
              <a:t>Harabasz</a:t>
            </a:r>
            <a:r>
              <a:rPr lang="en-GB" sz="1800" dirty="0">
                <a:solidFill>
                  <a:schemeClr val="tx1"/>
                </a:solidFill>
                <a:effectLst/>
                <a:latin typeface="Times New Roman" panose="02020603050405020304" pitchFamily="18" charset="0"/>
                <a:ea typeface="Times New Roman" panose="02020603050405020304" pitchFamily="18" charset="0"/>
              </a:rPr>
              <a:t> index through training, and testing of demographic and customer behavioural data.</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C700CD5-84E3-D813-A382-DEF40ED6EAB6}"/>
              </a:ext>
            </a:extLst>
          </p:cNvPr>
          <p:cNvSpPr txBox="1"/>
          <p:nvPr/>
        </p:nvSpPr>
        <p:spPr>
          <a:xfrm>
            <a:off x="430199" y="3837111"/>
            <a:ext cx="5539802" cy="2535566"/>
          </a:xfrm>
          <a:custGeom>
            <a:avLst/>
            <a:gdLst>
              <a:gd name="connsiteX0" fmla="*/ 0 w 5539802"/>
              <a:gd name="connsiteY0" fmla="*/ 0 h 2535566"/>
              <a:gd name="connsiteX1" fmla="*/ 498582 w 5539802"/>
              <a:gd name="connsiteY1" fmla="*/ 0 h 2535566"/>
              <a:gd name="connsiteX2" fmla="*/ 1052562 w 5539802"/>
              <a:gd name="connsiteY2" fmla="*/ 0 h 2535566"/>
              <a:gd name="connsiteX3" fmla="*/ 1661941 w 5539802"/>
              <a:gd name="connsiteY3" fmla="*/ 0 h 2535566"/>
              <a:gd name="connsiteX4" fmla="*/ 2160523 w 5539802"/>
              <a:gd name="connsiteY4" fmla="*/ 0 h 2535566"/>
              <a:gd name="connsiteX5" fmla="*/ 2603707 w 5539802"/>
              <a:gd name="connsiteY5" fmla="*/ 0 h 2535566"/>
              <a:gd name="connsiteX6" fmla="*/ 3268483 w 5539802"/>
              <a:gd name="connsiteY6" fmla="*/ 0 h 2535566"/>
              <a:gd name="connsiteX7" fmla="*/ 3822463 w 5539802"/>
              <a:gd name="connsiteY7" fmla="*/ 0 h 2535566"/>
              <a:gd name="connsiteX8" fmla="*/ 4431842 w 5539802"/>
              <a:gd name="connsiteY8" fmla="*/ 0 h 2535566"/>
              <a:gd name="connsiteX9" fmla="*/ 5041220 w 5539802"/>
              <a:gd name="connsiteY9" fmla="*/ 0 h 2535566"/>
              <a:gd name="connsiteX10" fmla="*/ 5539802 w 5539802"/>
              <a:gd name="connsiteY10" fmla="*/ 0 h 2535566"/>
              <a:gd name="connsiteX11" fmla="*/ 5539802 w 5539802"/>
              <a:gd name="connsiteY11" fmla="*/ 456402 h 2535566"/>
              <a:gd name="connsiteX12" fmla="*/ 5539802 w 5539802"/>
              <a:gd name="connsiteY12" fmla="*/ 988871 h 2535566"/>
              <a:gd name="connsiteX13" fmla="*/ 5539802 w 5539802"/>
              <a:gd name="connsiteY13" fmla="*/ 1419917 h 2535566"/>
              <a:gd name="connsiteX14" fmla="*/ 5539802 w 5539802"/>
              <a:gd name="connsiteY14" fmla="*/ 1876319 h 2535566"/>
              <a:gd name="connsiteX15" fmla="*/ 5539802 w 5539802"/>
              <a:gd name="connsiteY15" fmla="*/ 2535566 h 2535566"/>
              <a:gd name="connsiteX16" fmla="*/ 5096618 w 5539802"/>
              <a:gd name="connsiteY16" fmla="*/ 2535566 h 2535566"/>
              <a:gd name="connsiteX17" fmla="*/ 4431842 w 5539802"/>
              <a:gd name="connsiteY17" fmla="*/ 2535566 h 2535566"/>
              <a:gd name="connsiteX18" fmla="*/ 4044055 w 5539802"/>
              <a:gd name="connsiteY18" fmla="*/ 2535566 h 2535566"/>
              <a:gd name="connsiteX19" fmla="*/ 3490075 w 5539802"/>
              <a:gd name="connsiteY19" fmla="*/ 2535566 h 2535566"/>
              <a:gd name="connsiteX20" fmla="*/ 3102289 w 5539802"/>
              <a:gd name="connsiteY20" fmla="*/ 2535566 h 2535566"/>
              <a:gd name="connsiteX21" fmla="*/ 2492911 w 5539802"/>
              <a:gd name="connsiteY21" fmla="*/ 2535566 h 2535566"/>
              <a:gd name="connsiteX22" fmla="*/ 1938931 w 5539802"/>
              <a:gd name="connsiteY22" fmla="*/ 2535566 h 2535566"/>
              <a:gd name="connsiteX23" fmla="*/ 1384951 w 5539802"/>
              <a:gd name="connsiteY23" fmla="*/ 2535566 h 2535566"/>
              <a:gd name="connsiteX24" fmla="*/ 720174 w 5539802"/>
              <a:gd name="connsiteY24" fmla="*/ 2535566 h 2535566"/>
              <a:gd name="connsiteX25" fmla="*/ 0 w 5539802"/>
              <a:gd name="connsiteY25" fmla="*/ 2535566 h 2535566"/>
              <a:gd name="connsiteX26" fmla="*/ 0 w 5539802"/>
              <a:gd name="connsiteY26" fmla="*/ 2104520 h 2535566"/>
              <a:gd name="connsiteX27" fmla="*/ 0 w 5539802"/>
              <a:gd name="connsiteY27" fmla="*/ 1622762 h 2535566"/>
              <a:gd name="connsiteX28" fmla="*/ 0 w 5539802"/>
              <a:gd name="connsiteY28" fmla="*/ 1115649 h 2535566"/>
              <a:gd name="connsiteX29" fmla="*/ 0 w 5539802"/>
              <a:gd name="connsiteY29" fmla="*/ 608536 h 2535566"/>
              <a:gd name="connsiteX30" fmla="*/ 0 w 5539802"/>
              <a:gd name="connsiteY30" fmla="*/ 0 h 2535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539802" h="2535566" fill="none" extrusionOk="0">
                <a:moveTo>
                  <a:pt x="0" y="0"/>
                </a:moveTo>
                <a:cubicBezTo>
                  <a:pt x="147069" y="-22372"/>
                  <a:pt x="365526" y="12381"/>
                  <a:pt x="498582" y="0"/>
                </a:cubicBezTo>
                <a:cubicBezTo>
                  <a:pt x="631638" y="-12381"/>
                  <a:pt x="859880" y="32524"/>
                  <a:pt x="1052562" y="0"/>
                </a:cubicBezTo>
                <a:cubicBezTo>
                  <a:pt x="1245244" y="-32524"/>
                  <a:pt x="1391076" y="5418"/>
                  <a:pt x="1661941" y="0"/>
                </a:cubicBezTo>
                <a:cubicBezTo>
                  <a:pt x="1932806" y="-5418"/>
                  <a:pt x="2046725" y="5748"/>
                  <a:pt x="2160523" y="0"/>
                </a:cubicBezTo>
                <a:cubicBezTo>
                  <a:pt x="2274321" y="-5748"/>
                  <a:pt x="2439090" y="4631"/>
                  <a:pt x="2603707" y="0"/>
                </a:cubicBezTo>
                <a:cubicBezTo>
                  <a:pt x="2768324" y="-4631"/>
                  <a:pt x="3067435" y="15393"/>
                  <a:pt x="3268483" y="0"/>
                </a:cubicBezTo>
                <a:cubicBezTo>
                  <a:pt x="3469531" y="-15393"/>
                  <a:pt x="3598013" y="22800"/>
                  <a:pt x="3822463" y="0"/>
                </a:cubicBezTo>
                <a:cubicBezTo>
                  <a:pt x="4046913" y="-22800"/>
                  <a:pt x="4257854" y="2080"/>
                  <a:pt x="4431842" y="0"/>
                </a:cubicBezTo>
                <a:cubicBezTo>
                  <a:pt x="4605830" y="-2080"/>
                  <a:pt x="4894838" y="12699"/>
                  <a:pt x="5041220" y="0"/>
                </a:cubicBezTo>
                <a:cubicBezTo>
                  <a:pt x="5187602" y="-12699"/>
                  <a:pt x="5311225" y="3746"/>
                  <a:pt x="5539802" y="0"/>
                </a:cubicBezTo>
                <a:cubicBezTo>
                  <a:pt x="5554962" y="141973"/>
                  <a:pt x="5507393" y="235914"/>
                  <a:pt x="5539802" y="456402"/>
                </a:cubicBezTo>
                <a:cubicBezTo>
                  <a:pt x="5572211" y="676890"/>
                  <a:pt x="5495058" y="879455"/>
                  <a:pt x="5539802" y="988871"/>
                </a:cubicBezTo>
                <a:cubicBezTo>
                  <a:pt x="5584546" y="1098287"/>
                  <a:pt x="5500450" y="1289750"/>
                  <a:pt x="5539802" y="1419917"/>
                </a:cubicBezTo>
                <a:cubicBezTo>
                  <a:pt x="5579154" y="1550084"/>
                  <a:pt x="5492783" y="1649408"/>
                  <a:pt x="5539802" y="1876319"/>
                </a:cubicBezTo>
                <a:cubicBezTo>
                  <a:pt x="5586821" y="2103230"/>
                  <a:pt x="5475281" y="2348061"/>
                  <a:pt x="5539802" y="2535566"/>
                </a:cubicBezTo>
                <a:cubicBezTo>
                  <a:pt x="5320222" y="2580881"/>
                  <a:pt x="5206313" y="2528967"/>
                  <a:pt x="5096618" y="2535566"/>
                </a:cubicBezTo>
                <a:cubicBezTo>
                  <a:pt x="4986923" y="2542165"/>
                  <a:pt x="4641625" y="2480855"/>
                  <a:pt x="4431842" y="2535566"/>
                </a:cubicBezTo>
                <a:cubicBezTo>
                  <a:pt x="4222059" y="2590277"/>
                  <a:pt x="4160393" y="2519381"/>
                  <a:pt x="4044055" y="2535566"/>
                </a:cubicBezTo>
                <a:cubicBezTo>
                  <a:pt x="3927717" y="2551751"/>
                  <a:pt x="3639302" y="2511744"/>
                  <a:pt x="3490075" y="2535566"/>
                </a:cubicBezTo>
                <a:cubicBezTo>
                  <a:pt x="3340848" y="2559388"/>
                  <a:pt x="3270913" y="2531077"/>
                  <a:pt x="3102289" y="2535566"/>
                </a:cubicBezTo>
                <a:cubicBezTo>
                  <a:pt x="2933665" y="2540055"/>
                  <a:pt x="2705725" y="2507261"/>
                  <a:pt x="2492911" y="2535566"/>
                </a:cubicBezTo>
                <a:cubicBezTo>
                  <a:pt x="2280097" y="2563871"/>
                  <a:pt x="2117465" y="2469939"/>
                  <a:pt x="1938931" y="2535566"/>
                </a:cubicBezTo>
                <a:cubicBezTo>
                  <a:pt x="1760397" y="2601193"/>
                  <a:pt x="1541280" y="2491176"/>
                  <a:pt x="1384951" y="2535566"/>
                </a:cubicBezTo>
                <a:cubicBezTo>
                  <a:pt x="1228622" y="2579956"/>
                  <a:pt x="883860" y="2491580"/>
                  <a:pt x="720174" y="2535566"/>
                </a:cubicBezTo>
                <a:cubicBezTo>
                  <a:pt x="556488" y="2579552"/>
                  <a:pt x="184082" y="2481572"/>
                  <a:pt x="0" y="2535566"/>
                </a:cubicBezTo>
                <a:cubicBezTo>
                  <a:pt x="-25895" y="2372118"/>
                  <a:pt x="39264" y="2225372"/>
                  <a:pt x="0" y="2104520"/>
                </a:cubicBezTo>
                <a:cubicBezTo>
                  <a:pt x="-39264" y="1983668"/>
                  <a:pt x="9159" y="1846524"/>
                  <a:pt x="0" y="1622762"/>
                </a:cubicBezTo>
                <a:cubicBezTo>
                  <a:pt x="-9159" y="1399000"/>
                  <a:pt x="14138" y="1324531"/>
                  <a:pt x="0" y="1115649"/>
                </a:cubicBezTo>
                <a:cubicBezTo>
                  <a:pt x="-14138" y="906767"/>
                  <a:pt x="39551" y="779539"/>
                  <a:pt x="0" y="608536"/>
                </a:cubicBezTo>
                <a:cubicBezTo>
                  <a:pt x="-39551" y="437533"/>
                  <a:pt x="50247" y="171358"/>
                  <a:pt x="0" y="0"/>
                </a:cubicBezTo>
                <a:close/>
              </a:path>
              <a:path w="5539802" h="2535566" stroke="0" extrusionOk="0">
                <a:moveTo>
                  <a:pt x="0" y="0"/>
                </a:moveTo>
                <a:cubicBezTo>
                  <a:pt x="246928" y="-16783"/>
                  <a:pt x="369076" y="55222"/>
                  <a:pt x="498582" y="0"/>
                </a:cubicBezTo>
                <a:cubicBezTo>
                  <a:pt x="628088" y="-55222"/>
                  <a:pt x="849490" y="51015"/>
                  <a:pt x="1107960" y="0"/>
                </a:cubicBezTo>
                <a:cubicBezTo>
                  <a:pt x="1366430" y="-51015"/>
                  <a:pt x="1460539" y="29763"/>
                  <a:pt x="1551145" y="0"/>
                </a:cubicBezTo>
                <a:cubicBezTo>
                  <a:pt x="1641752" y="-29763"/>
                  <a:pt x="1891995" y="63931"/>
                  <a:pt x="2215921" y="0"/>
                </a:cubicBezTo>
                <a:cubicBezTo>
                  <a:pt x="2539847" y="-63931"/>
                  <a:pt x="2565237" y="56573"/>
                  <a:pt x="2769901" y="0"/>
                </a:cubicBezTo>
                <a:cubicBezTo>
                  <a:pt x="2974565" y="-56573"/>
                  <a:pt x="3221189" y="573"/>
                  <a:pt x="3379279" y="0"/>
                </a:cubicBezTo>
                <a:cubicBezTo>
                  <a:pt x="3537369" y="-573"/>
                  <a:pt x="3641572" y="7811"/>
                  <a:pt x="3767065" y="0"/>
                </a:cubicBezTo>
                <a:cubicBezTo>
                  <a:pt x="3892558" y="-7811"/>
                  <a:pt x="4067500" y="971"/>
                  <a:pt x="4210250" y="0"/>
                </a:cubicBezTo>
                <a:cubicBezTo>
                  <a:pt x="4353000" y="-971"/>
                  <a:pt x="4549319" y="163"/>
                  <a:pt x="4764230" y="0"/>
                </a:cubicBezTo>
                <a:cubicBezTo>
                  <a:pt x="4979141" y="-163"/>
                  <a:pt x="5351084" y="61986"/>
                  <a:pt x="5539802" y="0"/>
                </a:cubicBezTo>
                <a:cubicBezTo>
                  <a:pt x="5586356" y="115407"/>
                  <a:pt x="5511150" y="350673"/>
                  <a:pt x="5539802" y="557825"/>
                </a:cubicBezTo>
                <a:cubicBezTo>
                  <a:pt x="5568454" y="764977"/>
                  <a:pt x="5512487" y="872532"/>
                  <a:pt x="5539802" y="1039582"/>
                </a:cubicBezTo>
                <a:cubicBezTo>
                  <a:pt x="5567117" y="1206632"/>
                  <a:pt x="5519085" y="1368751"/>
                  <a:pt x="5539802" y="1597407"/>
                </a:cubicBezTo>
                <a:cubicBezTo>
                  <a:pt x="5560519" y="1826064"/>
                  <a:pt x="5527161" y="1911510"/>
                  <a:pt x="5539802" y="2053808"/>
                </a:cubicBezTo>
                <a:cubicBezTo>
                  <a:pt x="5552443" y="2196106"/>
                  <a:pt x="5493355" y="2358406"/>
                  <a:pt x="5539802" y="2535566"/>
                </a:cubicBezTo>
                <a:cubicBezTo>
                  <a:pt x="5338992" y="2542944"/>
                  <a:pt x="5279095" y="2485588"/>
                  <a:pt x="5096618" y="2535566"/>
                </a:cubicBezTo>
                <a:cubicBezTo>
                  <a:pt x="4914141" y="2585544"/>
                  <a:pt x="4685076" y="2521361"/>
                  <a:pt x="4431842" y="2535566"/>
                </a:cubicBezTo>
                <a:cubicBezTo>
                  <a:pt x="4178608" y="2549771"/>
                  <a:pt x="4118910" y="2522030"/>
                  <a:pt x="3822463" y="2535566"/>
                </a:cubicBezTo>
                <a:cubicBezTo>
                  <a:pt x="3526016" y="2549102"/>
                  <a:pt x="3597697" y="2504511"/>
                  <a:pt x="3434677" y="2535566"/>
                </a:cubicBezTo>
                <a:cubicBezTo>
                  <a:pt x="3271657" y="2566621"/>
                  <a:pt x="3108325" y="2507876"/>
                  <a:pt x="2991493" y="2535566"/>
                </a:cubicBezTo>
                <a:cubicBezTo>
                  <a:pt x="2874661" y="2563256"/>
                  <a:pt x="2765581" y="2494668"/>
                  <a:pt x="2603707" y="2535566"/>
                </a:cubicBezTo>
                <a:cubicBezTo>
                  <a:pt x="2441833" y="2576464"/>
                  <a:pt x="2294745" y="2502836"/>
                  <a:pt x="2105125" y="2535566"/>
                </a:cubicBezTo>
                <a:cubicBezTo>
                  <a:pt x="1915505" y="2568296"/>
                  <a:pt x="1888017" y="2529895"/>
                  <a:pt x="1717339" y="2535566"/>
                </a:cubicBezTo>
                <a:cubicBezTo>
                  <a:pt x="1546661" y="2541237"/>
                  <a:pt x="1386078" y="2484984"/>
                  <a:pt x="1274154" y="2535566"/>
                </a:cubicBezTo>
                <a:cubicBezTo>
                  <a:pt x="1162230" y="2586148"/>
                  <a:pt x="1055994" y="2508508"/>
                  <a:pt x="886368" y="2535566"/>
                </a:cubicBezTo>
                <a:cubicBezTo>
                  <a:pt x="716742" y="2562624"/>
                  <a:pt x="373870" y="2462382"/>
                  <a:pt x="0" y="2535566"/>
                </a:cubicBezTo>
                <a:cubicBezTo>
                  <a:pt x="-160" y="2312403"/>
                  <a:pt x="47271" y="2267447"/>
                  <a:pt x="0" y="2079164"/>
                </a:cubicBezTo>
                <a:cubicBezTo>
                  <a:pt x="-47271" y="1890881"/>
                  <a:pt x="20889" y="1834372"/>
                  <a:pt x="0" y="1622762"/>
                </a:cubicBezTo>
                <a:cubicBezTo>
                  <a:pt x="-20889" y="1411152"/>
                  <a:pt x="48747" y="1267592"/>
                  <a:pt x="0" y="1115649"/>
                </a:cubicBezTo>
                <a:cubicBezTo>
                  <a:pt x="-48747" y="963706"/>
                  <a:pt x="52930" y="790843"/>
                  <a:pt x="0" y="557825"/>
                </a:cubicBezTo>
                <a:cubicBezTo>
                  <a:pt x="-52930" y="324807"/>
                  <a:pt x="62673" y="161911"/>
                  <a:pt x="0" y="0"/>
                </a:cubicBezTo>
                <a:close/>
              </a:path>
            </a:pathLst>
          </a:custGeom>
          <a:ln w="38100">
            <a:extLst>
              <a:ext uri="{C807C97D-BFC1-408E-A445-0C87EB9F89A2}">
                <ask:lineSketchStyleProps xmlns:ask="http://schemas.microsoft.com/office/drawing/2018/sketchyshapes" xmlns="" sd="3578151972">
                  <a:prstGeom prst="rect">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wrap="square" rtlCol="0">
            <a:spAutoFit/>
          </a:bodyPr>
          <a:lstStyle/>
          <a:p>
            <a:pPr marL="285750" marR="0" lvl="0" indent="-285750" algn="just">
              <a:lnSpc>
                <a:spcPct val="150000"/>
              </a:lnSpc>
              <a:spcBef>
                <a:spcPts val="0"/>
              </a:spcBef>
              <a:spcAft>
                <a:spcPts val="0"/>
              </a:spcAft>
              <a:buFont typeface="Wingdings" panose="05000000000000000000" pitchFamily="2" charset="2"/>
              <a:buChar char="q"/>
            </a:pPr>
            <a:r>
              <a:rPr lang="en-US" sz="1800" dirty="0">
                <a:effectLst/>
                <a:latin typeface="Times New Roman" panose="02020603050405020304" pitchFamily="18" charset="0"/>
                <a:ea typeface="Times New Roman" panose="02020603050405020304" pitchFamily="18" charset="0"/>
              </a:rPr>
              <a:t>To assess the impact of PCA as an additional dimension reduction technique on clustering results by analyzing the performance change using silhouette scores and Calinski-Harabasz indices before and after applying PCA, to determine the effectiveness of PCA in improving clustering performance.</a:t>
            </a:r>
          </a:p>
        </p:txBody>
      </p:sp>
      <p:sp>
        <p:nvSpPr>
          <p:cNvPr id="10" name="TextBox 9">
            <a:extLst>
              <a:ext uri="{FF2B5EF4-FFF2-40B4-BE49-F238E27FC236}">
                <a16:creationId xmlns:a16="http://schemas.microsoft.com/office/drawing/2014/main" id="{131BA925-F792-BFB2-CF60-F9DAB91EB8F2}"/>
              </a:ext>
            </a:extLst>
          </p:cNvPr>
          <p:cNvSpPr txBox="1"/>
          <p:nvPr/>
        </p:nvSpPr>
        <p:spPr>
          <a:xfrm>
            <a:off x="6318472" y="3820305"/>
            <a:ext cx="5389989" cy="2951064"/>
          </a:xfrm>
          <a:custGeom>
            <a:avLst/>
            <a:gdLst>
              <a:gd name="connsiteX0" fmla="*/ 0 w 5389989"/>
              <a:gd name="connsiteY0" fmla="*/ 0 h 2951064"/>
              <a:gd name="connsiteX1" fmla="*/ 491088 w 5389989"/>
              <a:gd name="connsiteY1" fmla="*/ 0 h 2951064"/>
              <a:gd name="connsiteX2" fmla="*/ 1036076 w 5389989"/>
              <a:gd name="connsiteY2" fmla="*/ 0 h 2951064"/>
              <a:gd name="connsiteX3" fmla="*/ 1634963 w 5389989"/>
              <a:gd name="connsiteY3" fmla="*/ 0 h 2951064"/>
              <a:gd name="connsiteX4" fmla="*/ 2233851 w 5389989"/>
              <a:gd name="connsiteY4" fmla="*/ 0 h 2951064"/>
              <a:gd name="connsiteX5" fmla="*/ 2832739 w 5389989"/>
              <a:gd name="connsiteY5" fmla="*/ 0 h 2951064"/>
              <a:gd name="connsiteX6" fmla="*/ 3377726 w 5389989"/>
              <a:gd name="connsiteY6" fmla="*/ 0 h 2951064"/>
              <a:gd name="connsiteX7" fmla="*/ 4030514 w 5389989"/>
              <a:gd name="connsiteY7" fmla="*/ 0 h 2951064"/>
              <a:gd name="connsiteX8" fmla="*/ 4737201 w 5389989"/>
              <a:gd name="connsiteY8" fmla="*/ 0 h 2951064"/>
              <a:gd name="connsiteX9" fmla="*/ 5389989 w 5389989"/>
              <a:gd name="connsiteY9" fmla="*/ 0 h 2951064"/>
              <a:gd name="connsiteX10" fmla="*/ 5389989 w 5389989"/>
              <a:gd name="connsiteY10" fmla="*/ 531192 h 2951064"/>
              <a:gd name="connsiteX11" fmla="*/ 5389989 w 5389989"/>
              <a:gd name="connsiteY11" fmla="*/ 1091894 h 2951064"/>
              <a:gd name="connsiteX12" fmla="*/ 5389989 w 5389989"/>
              <a:gd name="connsiteY12" fmla="*/ 1711617 h 2951064"/>
              <a:gd name="connsiteX13" fmla="*/ 5389989 w 5389989"/>
              <a:gd name="connsiteY13" fmla="*/ 2213298 h 2951064"/>
              <a:gd name="connsiteX14" fmla="*/ 5389989 w 5389989"/>
              <a:gd name="connsiteY14" fmla="*/ 2951064 h 2951064"/>
              <a:gd name="connsiteX15" fmla="*/ 4791101 w 5389989"/>
              <a:gd name="connsiteY15" fmla="*/ 2951064 h 2951064"/>
              <a:gd name="connsiteX16" fmla="*/ 4246114 w 5389989"/>
              <a:gd name="connsiteY16" fmla="*/ 2951064 h 2951064"/>
              <a:gd name="connsiteX17" fmla="*/ 3701126 w 5389989"/>
              <a:gd name="connsiteY17" fmla="*/ 2951064 h 2951064"/>
              <a:gd name="connsiteX18" fmla="*/ 3263938 w 5389989"/>
              <a:gd name="connsiteY18" fmla="*/ 2951064 h 2951064"/>
              <a:gd name="connsiteX19" fmla="*/ 2557250 w 5389989"/>
              <a:gd name="connsiteY19" fmla="*/ 2951064 h 2951064"/>
              <a:gd name="connsiteX20" fmla="*/ 1904463 w 5389989"/>
              <a:gd name="connsiteY20" fmla="*/ 2951064 h 2951064"/>
              <a:gd name="connsiteX21" fmla="*/ 1413375 w 5389989"/>
              <a:gd name="connsiteY21" fmla="*/ 2951064 h 2951064"/>
              <a:gd name="connsiteX22" fmla="*/ 814487 w 5389989"/>
              <a:gd name="connsiteY22" fmla="*/ 2951064 h 2951064"/>
              <a:gd name="connsiteX23" fmla="*/ 0 w 5389989"/>
              <a:gd name="connsiteY23" fmla="*/ 2951064 h 2951064"/>
              <a:gd name="connsiteX24" fmla="*/ 0 w 5389989"/>
              <a:gd name="connsiteY24" fmla="*/ 2390362 h 2951064"/>
              <a:gd name="connsiteX25" fmla="*/ 0 w 5389989"/>
              <a:gd name="connsiteY25" fmla="*/ 1800149 h 2951064"/>
              <a:gd name="connsiteX26" fmla="*/ 0 w 5389989"/>
              <a:gd name="connsiteY26" fmla="*/ 1150915 h 2951064"/>
              <a:gd name="connsiteX27" fmla="*/ 0 w 5389989"/>
              <a:gd name="connsiteY27" fmla="*/ 560702 h 2951064"/>
              <a:gd name="connsiteX28" fmla="*/ 0 w 5389989"/>
              <a:gd name="connsiteY28" fmla="*/ 0 h 2951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89989" h="2951064" fill="none" extrusionOk="0">
                <a:moveTo>
                  <a:pt x="0" y="0"/>
                </a:moveTo>
                <a:cubicBezTo>
                  <a:pt x="156601" y="-35374"/>
                  <a:pt x="339552" y="11928"/>
                  <a:pt x="491088" y="0"/>
                </a:cubicBezTo>
                <a:cubicBezTo>
                  <a:pt x="642624" y="-11928"/>
                  <a:pt x="916947" y="64466"/>
                  <a:pt x="1036076" y="0"/>
                </a:cubicBezTo>
                <a:cubicBezTo>
                  <a:pt x="1155205" y="-64466"/>
                  <a:pt x="1350510" y="1498"/>
                  <a:pt x="1634963" y="0"/>
                </a:cubicBezTo>
                <a:cubicBezTo>
                  <a:pt x="1919416" y="-1498"/>
                  <a:pt x="2031316" y="25718"/>
                  <a:pt x="2233851" y="0"/>
                </a:cubicBezTo>
                <a:cubicBezTo>
                  <a:pt x="2436386" y="-25718"/>
                  <a:pt x="2580362" y="38345"/>
                  <a:pt x="2832739" y="0"/>
                </a:cubicBezTo>
                <a:cubicBezTo>
                  <a:pt x="3085116" y="-38345"/>
                  <a:pt x="3136129" y="29760"/>
                  <a:pt x="3377726" y="0"/>
                </a:cubicBezTo>
                <a:cubicBezTo>
                  <a:pt x="3619323" y="-29760"/>
                  <a:pt x="3849568" y="32478"/>
                  <a:pt x="4030514" y="0"/>
                </a:cubicBezTo>
                <a:cubicBezTo>
                  <a:pt x="4211460" y="-32478"/>
                  <a:pt x="4549262" y="8323"/>
                  <a:pt x="4737201" y="0"/>
                </a:cubicBezTo>
                <a:cubicBezTo>
                  <a:pt x="4925140" y="-8323"/>
                  <a:pt x="5197878" y="55762"/>
                  <a:pt x="5389989" y="0"/>
                </a:cubicBezTo>
                <a:cubicBezTo>
                  <a:pt x="5422557" y="231663"/>
                  <a:pt x="5384632" y="338024"/>
                  <a:pt x="5389989" y="531192"/>
                </a:cubicBezTo>
                <a:cubicBezTo>
                  <a:pt x="5395346" y="724360"/>
                  <a:pt x="5350868" y="944774"/>
                  <a:pt x="5389989" y="1091894"/>
                </a:cubicBezTo>
                <a:cubicBezTo>
                  <a:pt x="5429110" y="1239014"/>
                  <a:pt x="5363013" y="1460212"/>
                  <a:pt x="5389989" y="1711617"/>
                </a:cubicBezTo>
                <a:cubicBezTo>
                  <a:pt x="5416965" y="1963022"/>
                  <a:pt x="5366326" y="2089568"/>
                  <a:pt x="5389989" y="2213298"/>
                </a:cubicBezTo>
                <a:cubicBezTo>
                  <a:pt x="5413652" y="2337028"/>
                  <a:pt x="5303115" y="2599356"/>
                  <a:pt x="5389989" y="2951064"/>
                </a:cubicBezTo>
                <a:cubicBezTo>
                  <a:pt x="5183589" y="3002044"/>
                  <a:pt x="4948382" y="2892447"/>
                  <a:pt x="4791101" y="2951064"/>
                </a:cubicBezTo>
                <a:cubicBezTo>
                  <a:pt x="4633820" y="3009681"/>
                  <a:pt x="4373430" y="2926142"/>
                  <a:pt x="4246114" y="2951064"/>
                </a:cubicBezTo>
                <a:cubicBezTo>
                  <a:pt x="4118798" y="2975986"/>
                  <a:pt x="3964431" y="2938916"/>
                  <a:pt x="3701126" y="2951064"/>
                </a:cubicBezTo>
                <a:cubicBezTo>
                  <a:pt x="3437821" y="2963212"/>
                  <a:pt x="3438958" y="2919687"/>
                  <a:pt x="3263938" y="2951064"/>
                </a:cubicBezTo>
                <a:cubicBezTo>
                  <a:pt x="3088918" y="2982441"/>
                  <a:pt x="2764948" y="2914916"/>
                  <a:pt x="2557250" y="2951064"/>
                </a:cubicBezTo>
                <a:cubicBezTo>
                  <a:pt x="2349552" y="2987212"/>
                  <a:pt x="2216902" y="2878587"/>
                  <a:pt x="1904463" y="2951064"/>
                </a:cubicBezTo>
                <a:cubicBezTo>
                  <a:pt x="1592024" y="3023541"/>
                  <a:pt x="1608264" y="2927232"/>
                  <a:pt x="1413375" y="2951064"/>
                </a:cubicBezTo>
                <a:cubicBezTo>
                  <a:pt x="1218486" y="2974896"/>
                  <a:pt x="1057349" y="2942379"/>
                  <a:pt x="814487" y="2951064"/>
                </a:cubicBezTo>
                <a:cubicBezTo>
                  <a:pt x="571625" y="2959749"/>
                  <a:pt x="180964" y="2863308"/>
                  <a:pt x="0" y="2951064"/>
                </a:cubicBezTo>
                <a:cubicBezTo>
                  <a:pt x="-35009" y="2743120"/>
                  <a:pt x="52305" y="2621870"/>
                  <a:pt x="0" y="2390362"/>
                </a:cubicBezTo>
                <a:cubicBezTo>
                  <a:pt x="-52305" y="2158854"/>
                  <a:pt x="41821" y="1987188"/>
                  <a:pt x="0" y="1800149"/>
                </a:cubicBezTo>
                <a:cubicBezTo>
                  <a:pt x="-41821" y="1613110"/>
                  <a:pt x="73497" y="1341626"/>
                  <a:pt x="0" y="1150915"/>
                </a:cubicBezTo>
                <a:cubicBezTo>
                  <a:pt x="-73497" y="960204"/>
                  <a:pt x="13849" y="765776"/>
                  <a:pt x="0" y="560702"/>
                </a:cubicBezTo>
                <a:cubicBezTo>
                  <a:pt x="-13849" y="355628"/>
                  <a:pt x="43579" y="269600"/>
                  <a:pt x="0" y="0"/>
                </a:cubicBezTo>
                <a:close/>
              </a:path>
              <a:path w="5389989" h="2951064" stroke="0" extrusionOk="0">
                <a:moveTo>
                  <a:pt x="0" y="0"/>
                </a:moveTo>
                <a:cubicBezTo>
                  <a:pt x="217108" y="-65537"/>
                  <a:pt x="405871" y="7492"/>
                  <a:pt x="598888" y="0"/>
                </a:cubicBezTo>
                <a:cubicBezTo>
                  <a:pt x="791905" y="-7492"/>
                  <a:pt x="945537" y="44300"/>
                  <a:pt x="1089976" y="0"/>
                </a:cubicBezTo>
                <a:cubicBezTo>
                  <a:pt x="1234415" y="-44300"/>
                  <a:pt x="1375243" y="24546"/>
                  <a:pt x="1581063" y="0"/>
                </a:cubicBezTo>
                <a:cubicBezTo>
                  <a:pt x="1786883" y="-24546"/>
                  <a:pt x="1946640" y="44280"/>
                  <a:pt x="2072151" y="0"/>
                </a:cubicBezTo>
                <a:cubicBezTo>
                  <a:pt x="2197662" y="-44280"/>
                  <a:pt x="2482309" y="33965"/>
                  <a:pt x="2617139" y="0"/>
                </a:cubicBezTo>
                <a:cubicBezTo>
                  <a:pt x="2751969" y="-33965"/>
                  <a:pt x="3055535" y="30927"/>
                  <a:pt x="3269927" y="0"/>
                </a:cubicBezTo>
                <a:cubicBezTo>
                  <a:pt x="3484319" y="-30927"/>
                  <a:pt x="3558922" y="8918"/>
                  <a:pt x="3761015" y="0"/>
                </a:cubicBezTo>
                <a:cubicBezTo>
                  <a:pt x="3963108" y="-8918"/>
                  <a:pt x="4162899" y="17131"/>
                  <a:pt x="4359902" y="0"/>
                </a:cubicBezTo>
                <a:cubicBezTo>
                  <a:pt x="4556905" y="-17131"/>
                  <a:pt x="5130204" y="55750"/>
                  <a:pt x="5389989" y="0"/>
                </a:cubicBezTo>
                <a:cubicBezTo>
                  <a:pt x="5443884" y="265774"/>
                  <a:pt x="5344293" y="331343"/>
                  <a:pt x="5389989" y="649234"/>
                </a:cubicBezTo>
                <a:cubicBezTo>
                  <a:pt x="5435685" y="967125"/>
                  <a:pt x="5372887" y="1048126"/>
                  <a:pt x="5389989" y="1150915"/>
                </a:cubicBezTo>
                <a:cubicBezTo>
                  <a:pt x="5407091" y="1253704"/>
                  <a:pt x="5369769" y="1533666"/>
                  <a:pt x="5389989" y="1682106"/>
                </a:cubicBezTo>
                <a:cubicBezTo>
                  <a:pt x="5410209" y="1830546"/>
                  <a:pt x="5360891" y="2088586"/>
                  <a:pt x="5389989" y="2242809"/>
                </a:cubicBezTo>
                <a:cubicBezTo>
                  <a:pt x="5419087" y="2397032"/>
                  <a:pt x="5334750" y="2668307"/>
                  <a:pt x="5389989" y="2951064"/>
                </a:cubicBezTo>
                <a:cubicBezTo>
                  <a:pt x="5140665" y="2979664"/>
                  <a:pt x="5004940" y="2930153"/>
                  <a:pt x="4683302" y="2951064"/>
                </a:cubicBezTo>
                <a:cubicBezTo>
                  <a:pt x="4361664" y="2971975"/>
                  <a:pt x="4371127" y="2921271"/>
                  <a:pt x="4084414" y="2951064"/>
                </a:cubicBezTo>
                <a:cubicBezTo>
                  <a:pt x="3797701" y="2980857"/>
                  <a:pt x="3740139" y="2929933"/>
                  <a:pt x="3647226" y="2951064"/>
                </a:cubicBezTo>
                <a:cubicBezTo>
                  <a:pt x="3554313" y="2972195"/>
                  <a:pt x="3350271" y="2911195"/>
                  <a:pt x="3210038" y="2951064"/>
                </a:cubicBezTo>
                <a:cubicBezTo>
                  <a:pt x="3069805" y="2990933"/>
                  <a:pt x="2752647" y="2924643"/>
                  <a:pt x="2611150" y="2951064"/>
                </a:cubicBezTo>
                <a:cubicBezTo>
                  <a:pt x="2469653" y="2977485"/>
                  <a:pt x="2266269" y="2874122"/>
                  <a:pt x="1958363" y="2951064"/>
                </a:cubicBezTo>
                <a:cubicBezTo>
                  <a:pt x="1650457" y="3028006"/>
                  <a:pt x="1623542" y="2917429"/>
                  <a:pt x="1305575" y="2951064"/>
                </a:cubicBezTo>
                <a:cubicBezTo>
                  <a:pt x="987608" y="2984699"/>
                  <a:pt x="965313" y="2945065"/>
                  <a:pt x="814487" y="2951064"/>
                </a:cubicBezTo>
                <a:cubicBezTo>
                  <a:pt x="663661" y="2957063"/>
                  <a:pt x="255966" y="2914620"/>
                  <a:pt x="0" y="2951064"/>
                </a:cubicBezTo>
                <a:cubicBezTo>
                  <a:pt x="-26512" y="2779432"/>
                  <a:pt x="48203" y="2619168"/>
                  <a:pt x="0" y="2301830"/>
                </a:cubicBezTo>
                <a:cubicBezTo>
                  <a:pt x="-48203" y="1984492"/>
                  <a:pt x="16866" y="1944084"/>
                  <a:pt x="0" y="1682106"/>
                </a:cubicBezTo>
                <a:cubicBezTo>
                  <a:pt x="-16866" y="1420128"/>
                  <a:pt x="62367" y="1292324"/>
                  <a:pt x="0" y="1121404"/>
                </a:cubicBezTo>
                <a:cubicBezTo>
                  <a:pt x="-62367" y="950484"/>
                  <a:pt x="60835" y="827322"/>
                  <a:pt x="0" y="560702"/>
                </a:cubicBezTo>
                <a:cubicBezTo>
                  <a:pt x="-60835" y="294082"/>
                  <a:pt x="1982" y="227981"/>
                  <a:pt x="0" y="0"/>
                </a:cubicBezTo>
                <a:close/>
              </a:path>
            </a:pathLst>
          </a:custGeom>
          <a:ln w="38100">
            <a:extLst>
              <a:ext uri="{C807C97D-BFC1-408E-A445-0C87EB9F89A2}">
                <ask:lineSketchStyleProps xmlns:ask="http://schemas.microsoft.com/office/drawing/2018/sketchyshapes" xmlns="" sd="4105085731">
                  <a:prstGeom prst="rect">
                    <a:avLst/>
                  </a:prstGeom>
                  <ask:type>
                    <ask:lineSketchScribble/>
                  </ask:type>
                </ask:lineSketchStyleProps>
              </a:ext>
            </a:extLst>
          </a:ln>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marR="0" lvl="0" indent="-285750" algn="just">
              <a:lnSpc>
                <a:spcPct val="150000"/>
              </a:lnSpc>
              <a:spcBef>
                <a:spcPts val="0"/>
              </a:spcBef>
              <a:spcAft>
                <a:spcPts val="0"/>
              </a:spcAft>
              <a:buFont typeface="Wingdings" panose="05000000000000000000" pitchFamily="2" charset="2"/>
              <a:buChar char="q"/>
            </a:pPr>
            <a:r>
              <a:rPr lang="en-US" sz="1800" dirty="0">
                <a:effectLst/>
                <a:latin typeface="Times New Roman" panose="02020603050405020304" pitchFamily="18" charset="0"/>
                <a:ea typeface="Times New Roman" panose="02020603050405020304" pitchFamily="18" charset="0"/>
              </a:rPr>
              <a:t>To investigate and provide actionable recommendations on the comparison of VAE, and traditional clustering algorithms for customer segmentation practices, through detailed reports on performance metrics and practical insights to enhance customer segmentation strategies in businesses.</a:t>
            </a:r>
          </a:p>
        </p:txBody>
      </p:sp>
    </p:spTree>
    <p:extLst>
      <p:ext uri="{BB962C8B-B14F-4D97-AF65-F5344CB8AC3E}">
        <p14:creationId xmlns:p14="http://schemas.microsoft.com/office/powerpoint/2010/main" val="3072787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8E447EE-981F-3445-AAD4-44D479B9FA6B}"/>
              </a:ext>
            </a:extLst>
          </p:cNvPr>
          <p:cNvSpPr/>
          <p:nvPr/>
        </p:nvSpPr>
        <p:spPr>
          <a:xfrm rot="16926037">
            <a:off x="1806675" y="4346417"/>
            <a:ext cx="1060836" cy="5022514"/>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4">
            <a:extLst>
              <a:ext uri="{FF2B5EF4-FFF2-40B4-BE49-F238E27FC236}">
                <a16:creationId xmlns:a16="http://schemas.microsoft.com/office/drawing/2014/main" id="{C5D2130E-3E3C-2848-BE03-E4BF7B6D4FC1}"/>
              </a:ext>
            </a:extLst>
          </p:cNvPr>
          <p:cNvSpPr/>
          <p:nvPr/>
        </p:nvSpPr>
        <p:spPr>
          <a:xfrm rot="11529462">
            <a:off x="11920736" y="4342955"/>
            <a:ext cx="543464" cy="2620456"/>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021C72E9-4FFD-F642-9292-087C1D4DF696}"/>
              </a:ext>
            </a:extLst>
          </p:cNvPr>
          <p:cNvSpPr txBox="1">
            <a:spLocks/>
          </p:cNvSpPr>
          <p:nvPr/>
        </p:nvSpPr>
        <p:spPr>
          <a:xfrm>
            <a:off x="1727905" y="454776"/>
            <a:ext cx="5958770" cy="688009"/>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E30A0A"/>
                </a:solidFill>
                <a:latin typeface="Times New Roman" panose="02020603050405020304" pitchFamily="18" charset="0"/>
                <a:cs typeface="Times New Roman" panose="02020603050405020304" pitchFamily="18" charset="0"/>
              </a:rPr>
              <a:t>BACKGROUND/CONTEXT</a:t>
            </a:r>
            <a:endParaRPr lang="en-US" sz="3200" b="1" dirty="0">
              <a:solidFill>
                <a:srgbClr val="E30A0A"/>
              </a:solidFill>
              <a:latin typeface="Times New Roman" panose="02020603050405020304" pitchFamily="18" charset="0"/>
              <a:cs typeface="Times New Roman" panose="02020603050405020304" pitchFamily="18" charset="0"/>
            </a:endParaRPr>
          </a:p>
        </p:txBody>
      </p:sp>
      <p:sp>
        <p:nvSpPr>
          <p:cNvPr id="7" name="Right Arrow 6"/>
          <p:cNvSpPr/>
          <p:nvPr/>
        </p:nvSpPr>
        <p:spPr>
          <a:xfrm>
            <a:off x="692260" y="367809"/>
            <a:ext cx="775667" cy="616900"/>
          </a:xfrm>
          <a:prstGeom prst="rightArrow">
            <a:avLst/>
          </a:pr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p:cNvGrpSpPr/>
          <p:nvPr/>
        </p:nvGrpSpPr>
        <p:grpSpPr>
          <a:xfrm>
            <a:off x="1767424" y="4274463"/>
            <a:ext cx="3639563" cy="1364010"/>
            <a:chOff x="1346561" y="4411173"/>
            <a:chExt cx="2539173" cy="1344977"/>
          </a:xfrm>
        </p:grpSpPr>
        <p:sp>
          <p:nvSpPr>
            <p:cNvPr id="17" name="Rounded Rectangle 16"/>
            <p:cNvSpPr/>
            <p:nvPr/>
          </p:nvSpPr>
          <p:spPr>
            <a:xfrm>
              <a:off x="1346561" y="4411173"/>
              <a:ext cx="2516847" cy="102278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368887" y="4528050"/>
              <a:ext cx="2516847" cy="1228100"/>
            </a:xfrm>
            <a:prstGeom prst="rect">
              <a:avLst/>
            </a:prstGeom>
            <a:noFill/>
          </p:spPr>
          <p:txBody>
            <a:bodyPr wrap="square" rtlCol="0">
              <a:spAutoFit/>
            </a:bodyPr>
            <a:lstStyle/>
            <a:p>
              <a:r>
                <a:rPr lang="en-GB" dirty="0">
                  <a:solidFill>
                    <a:schemeClr val="bg1"/>
                  </a:solidFill>
                  <a:latin typeface="Times New Roman" panose="02020603050405020304" pitchFamily="18" charset="0"/>
                  <a:cs typeface="Times New Roman" panose="02020603050405020304" pitchFamily="18" charset="0"/>
                </a:rPr>
                <a:t>A</a:t>
              </a:r>
              <a:r>
                <a:rPr lang="en-US" dirty="0" err="1">
                  <a:solidFill>
                    <a:schemeClr val="bg1"/>
                  </a:solidFill>
                  <a:latin typeface="Times New Roman" panose="02020603050405020304" pitchFamily="18" charset="0"/>
                  <a:cs typeface="Times New Roman" panose="02020603050405020304" pitchFamily="18" charset="0"/>
                </a:rPr>
                <a:t>utoencoder</a:t>
              </a:r>
              <a:r>
                <a:rPr lang="en-US" dirty="0">
                  <a:solidFill>
                    <a:schemeClr val="bg1"/>
                  </a:solidFill>
                  <a:latin typeface="Times New Roman" panose="02020603050405020304" pitchFamily="18" charset="0"/>
                  <a:cs typeface="Times New Roman" panose="02020603050405020304" pitchFamily="18" charset="0"/>
                </a:rPr>
                <a:t> and identification of</a:t>
              </a:r>
            </a:p>
            <a:p>
              <a:r>
                <a:rPr lang="en-US" dirty="0">
                  <a:solidFill>
                    <a:schemeClr val="bg1"/>
                  </a:solidFill>
                  <a:latin typeface="Times New Roman" panose="02020603050405020304" pitchFamily="18" charset="0"/>
                  <a:cs typeface="Times New Roman" panose="02020603050405020304" pitchFamily="18" charset="0"/>
                </a:rPr>
                <a:t> key factor for model </a:t>
              </a:r>
              <a:r>
                <a:rPr lang="en-GB" dirty="0">
                  <a:solidFill>
                    <a:schemeClr val="bg1"/>
                  </a:solidFill>
                  <a:latin typeface="Times New Roman" panose="02020603050405020304" pitchFamily="18" charset="0"/>
                  <a:cs typeface="Times New Roman" panose="02020603050405020304" pitchFamily="18" charset="0"/>
                </a:rPr>
                <a:t>improvement</a:t>
              </a:r>
              <a:r>
                <a:rPr lang="en-US" dirty="0">
                  <a:solidFill>
                    <a:schemeClr val="bg1"/>
                  </a:solidFill>
                  <a:latin typeface="Times New Roman" panose="02020603050405020304" pitchFamily="18" charset="0"/>
                  <a:cs typeface="Times New Roman" panose="02020603050405020304" pitchFamily="18" charset="0"/>
                </a:rPr>
                <a:t> </a:t>
              </a:r>
              <a:endParaRPr lang="en-US" dirty="0">
                <a:solidFill>
                  <a:schemeClr val="bg1"/>
                </a:solidFill>
              </a:endParaRPr>
            </a:p>
          </p:txBody>
        </p:sp>
      </p:grpSp>
      <p:grpSp>
        <p:nvGrpSpPr>
          <p:cNvPr id="20" name="Group 19"/>
          <p:cNvGrpSpPr/>
          <p:nvPr/>
        </p:nvGrpSpPr>
        <p:grpSpPr>
          <a:xfrm>
            <a:off x="1663612" y="1722860"/>
            <a:ext cx="3150913" cy="864704"/>
            <a:chOff x="1201712" y="1483165"/>
            <a:chExt cx="2619332" cy="1183834"/>
          </a:xfrm>
        </p:grpSpPr>
        <p:sp>
          <p:nvSpPr>
            <p:cNvPr id="10" name="Rounded Rectangle 9"/>
            <p:cNvSpPr/>
            <p:nvPr/>
          </p:nvSpPr>
          <p:spPr>
            <a:xfrm>
              <a:off x="1201712" y="1483165"/>
              <a:ext cx="2516847" cy="118383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1304197" y="1635703"/>
              <a:ext cx="2516847" cy="884868"/>
            </a:xfrm>
            <a:prstGeom prst="rect">
              <a:avLst/>
            </a:prstGeom>
            <a:noFill/>
          </p:spPr>
          <p:txBody>
            <a:bodyPr wrap="square" rtlCol="0">
              <a:spAutoFit/>
            </a:bodyPr>
            <a:lstStyle/>
            <a:p>
              <a:pPr marL="0" lvl="1"/>
              <a:r>
                <a:rPr lang="en-US" dirty="0">
                  <a:solidFill>
                    <a:schemeClr val="bg1"/>
                  </a:solidFill>
                  <a:latin typeface="Times New Roman" panose="02020603050405020304" pitchFamily="18" charset="0"/>
                  <a:cs typeface="Times New Roman" panose="02020603050405020304" pitchFamily="18" charset="0"/>
                </a:rPr>
                <a:t>Review on Customer segmentation and practices </a:t>
              </a:r>
              <a:endParaRPr lang="en-US" dirty="0">
                <a:solidFill>
                  <a:schemeClr val="bg1"/>
                </a:solidFill>
              </a:endParaRPr>
            </a:p>
          </p:txBody>
        </p:sp>
      </p:grpSp>
      <p:sp>
        <p:nvSpPr>
          <p:cNvPr id="15" name="Rectangle 14"/>
          <p:cNvSpPr/>
          <p:nvPr/>
        </p:nvSpPr>
        <p:spPr>
          <a:xfrm>
            <a:off x="810777" y="967442"/>
            <a:ext cx="3463640" cy="579967"/>
          </a:xfrm>
          <a:prstGeom prst="rect">
            <a:avLst/>
          </a:prstGeom>
        </p:spPr>
        <p:txBody>
          <a:bodyPr wrap="none">
            <a:spAutoFit/>
          </a:bodyPr>
          <a:lstStyle/>
          <a:p>
            <a:pPr marL="800100" lvl="1" indent="-342900">
              <a:lnSpc>
                <a:spcPct val="150000"/>
              </a:lnSpc>
              <a:buClr>
                <a:srgbClr val="FF0000"/>
              </a:buClr>
              <a:buFont typeface="Wingdings" panose="05000000000000000000" pitchFamily="2" charset="2"/>
              <a:buChar char="q"/>
            </a:pPr>
            <a:r>
              <a:rPr lang="en-GB" sz="2400" b="1" dirty="0">
                <a:latin typeface="Times New Roman" panose="02020603050405020304" pitchFamily="18" charset="0"/>
                <a:cs typeface="Times New Roman" panose="02020603050405020304" pitchFamily="18" charset="0"/>
              </a:rPr>
              <a:t>Literature Review </a:t>
            </a:r>
          </a:p>
        </p:txBody>
      </p:sp>
      <p:grpSp>
        <p:nvGrpSpPr>
          <p:cNvPr id="24" name="Group 23"/>
          <p:cNvGrpSpPr/>
          <p:nvPr/>
        </p:nvGrpSpPr>
        <p:grpSpPr>
          <a:xfrm>
            <a:off x="1909537" y="5487517"/>
            <a:ext cx="3594841" cy="586626"/>
            <a:chOff x="810777" y="3014946"/>
            <a:chExt cx="3594841" cy="1178626"/>
          </a:xfrm>
        </p:grpSpPr>
        <p:sp>
          <p:nvSpPr>
            <p:cNvPr id="12" name="Snip Diagonal Corner Rectangle 11"/>
            <p:cNvSpPr/>
            <p:nvPr/>
          </p:nvSpPr>
          <p:spPr>
            <a:xfrm>
              <a:off x="810777" y="3014946"/>
              <a:ext cx="3463639" cy="1178626"/>
            </a:xfrm>
            <a:prstGeom prst="snip2Diag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8" name="TextBox 17"/>
            <p:cNvSpPr txBox="1"/>
            <p:nvPr/>
          </p:nvSpPr>
          <p:spPr>
            <a:xfrm>
              <a:off x="905699" y="3134667"/>
              <a:ext cx="3499919" cy="369332"/>
            </a:xfrm>
            <a:prstGeom prst="rect">
              <a:avLst/>
            </a:prstGeom>
            <a:noFill/>
          </p:spPr>
          <p:txBody>
            <a:bodyPr wrap="square" rtlCol="0">
              <a:spAutoFit/>
            </a:bodyPr>
            <a:lstStyle/>
            <a:p>
              <a:pPr marL="0" lvl="1"/>
              <a:r>
                <a:rPr lang="en-US" dirty="0">
                  <a:solidFill>
                    <a:schemeClr val="bg1"/>
                  </a:solidFill>
                  <a:latin typeface="Times New Roman" panose="02020603050405020304" pitchFamily="18" charset="0"/>
                  <a:cs typeface="Times New Roman" panose="02020603050405020304" pitchFamily="18" charset="0"/>
                </a:rPr>
                <a:t>Research Gaps and Opportunities</a:t>
              </a:r>
            </a:p>
          </p:txBody>
        </p:sp>
      </p:grpSp>
      <p:sp>
        <p:nvSpPr>
          <p:cNvPr id="23" name="Rectangle 22"/>
          <p:cNvSpPr/>
          <p:nvPr/>
        </p:nvSpPr>
        <p:spPr>
          <a:xfrm>
            <a:off x="6780864" y="935670"/>
            <a:ext cx="3429144" cy="646331"/>
          </a:xfrm>
          <a:prstGeom prst="rect">
            <a:avLst/>
          </a:prstGeom>
        </p:spPr>
        <p:txBody>
          <a:bodyPr wrap="none">
            <a:spAutoFit/>
          </a:bodyPr>
          <a:lstStyle/>
          <a:p>
            <a:pPr marL="800100" lvl="1" indent="-342900">
              <a:lnSpc>
                <a:spcPct val="150000"/>
              </a:lnSpc>
              <a:buClr>
                <a:srgbClr val="FF0000"/>
              </a:buClr>
              <a:buFont typeface="Wingdings" panose="05000000000000000000" pitchFamily="2" charset="2"/>
              <a:buChar char="q"/>
            </a:pPr>
            <a:r>
              <a:rPr lang="en-GB" sz="2400" b="1" dirty="0">
                <a:latin typeface="Times New Roman" panose="02020603050405020304" pitchFamily="18" charset="0"/>
                <a:cs typeface="Times New Roman" panose="02020603050405020304" pitchFamily="18" charset="0"/>
              </a:rPr>
              <a:t>Informed Decision</a:t>
            </a:r>
          </a:p>
        </p:txBody>
      </p:sp>
      <p:grpSp>
        <p:nvGrpSpPr>
          <p:cNvPr id="26" name="Group 25"/>
          <p:cNvGrpSpPr/>
          <p:nvPr/>
        </p:nvGrpSpPr>
        <p:grpSpPr>
          <a:xfrm>
            <a:off x="7152227" y="1683808"/>
            <a:ext cx="3796509" cy="1210764"/>
            <a:chOff x="6394259" y="1739041"/>
            <a:chExt cx="3376160" cy="1210764"/>
          </a:xfrm>
        </p:grpSpPr>
        <p:sp>
          <p:nvSpPr>
            <p:cNvPr id="16" name="Rounded Rectangle 15"/>
            <p:cNvSpPr/>
            <p:nvPr/>
          </p:nvSpPr>
          <p:spPr>
            <a:xfrm>
              <a:off x="6394259" y="1739041"/>
              <a:ext cx="3376160" cy="121076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1363" lvl="1">
                <a:lnSpc>
                  <a:spcPct val="150000"/>
                </a:lnSpc>
                <a:buClr>
                  <a:schemeClr val="tx2"/>
                </a:buClr>
              </a:pPr>
              <a:endParaRPr lang="en-US"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6558253" y="1881827"/>
              <a:ext cx="3212166" cy="923330"/>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The customer segmentation best </a:t>
              </a:r>
              <a:r>
                <a:rPr lang="en-GB" dirty="0">
                  <a:solidFill>
                    <a:schemeClr val="bg1"/>
                  </a:solidFill>
                  <a:latin typeface="Times New Roman" panose="02020603050405020304" pitchFamily="18" charset="0"/>
                  <a:cs typeface="Times New Roman" panose="02020603050405020304" pitchFamily="18" charset="0"/>
                </a:rPr>
                <a:t>practise and limitation of this approach </a:t>
              </a:r>
              <a:endParaRPr lang="en-US" dirty="0">
                <a:solidFill>
                  <a:schemeClr val="bg1"/>
                </a:solidFill>
                <a:latin typeface="Times New Roman" panose="02020603050405020304" pitchFamily="18" charset="0"/>
                <a:cs typeface="Times New Roman" panose="02020603050405020304" pitchFamily="18" charset="0"/>
              </a:endParaRPr>
            </a:p>
          </p:txBody>
        </p:sp>
      </p:grpSp>
      <p:grpSp>
        <p:nvGrpSpPr>
          <p:cNvPr id="33" name="Group 32"/>
          <p:cNvGrpSpPr/>
          <p:nvPr/>
        </p:nvGrpSpPr>
        <p:grpSpPr>
          <a:xfrm>
            <a:off x="7072501" y="3037007"/>
            <a:ext cx="3876236" cy="1178626"/>
            <a:chOff x="6995421" y="3074288"/>
            <a:chExt cx="3463639" cy="1178626"/>
          </a:xfrm>
        </p:grpSpPr>
        <p:sp>
          <p:nvSpPr>
            <p:cNvPr id="28" name="Snip Diagonal Corner Rectangle 27"/>
            <p:cNvSpPr/>
            <p:nvPr/>
          </p:nvSpPr>
          <p:spPr>
            <a:xfrm>
              <a:off x="6995421" y="3074288"/>
              <a:ext cx="3463639" cy="1178626"/>
            </a:xfrm>
            <a:prstGeom prst="snip2Diag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29" name="TextBox 28"/>
            <p:cNvSpPr txBox="1"/>
            <p:nvPr/>
          </p:nvSpPr>
          <p:spPr>
            <a:xfrm>
              <a:off x="7096104" y="3189836"/>
              <a:ext cx="3262302" cy="923330"/>
            </a:xfrm>
            <a:prstGeom prst="rect">
              <a:avLst/>
            </a:prstGeom>
            <a:noFill/>
          </p:spPr>
          <p:txBody>
            <a:bodyPr wrap="square" rtlCol="0">
              <a:spAutoFit/>
            </a:bodyPr>
            <a:lstStyle/>
            <a:p>
              <a:pPr marL="0" lvl="1"/>
              <a:r>
                <a:rPr lang="en-US" dirty="0">
                  <a:solidFill>
                    <a:schemeClr val="bg1"/>
                  </a:solidFill>
                  <a:latin typeface="Times New Roman" panose="02020603050405020304" pitchFamily="18" charset="0"/>
                  <a:cs typeface="Times New Roman" panose="02020603050405020304" pitchFamily="18" charset="0"/>
                </a:rPr>
                <a:t>The selection of deep learning and classical machine learning model for clustering</a:t>
              </a:r>
              <a:endParaRPr lang="en-US" dirty="0"/>
            </a:p>
          </p:txBody>
        </p:sp>
      </p:grpSp>
      <p:grpSp>
        <p:nvGrpSpPr>
          <p:cNvPr id="32" name="Group 31"/>
          <p:cNvGrpSpPr/>
          <p:nvPr/>
        </p:nvGrpSpPr>
        <p:grpSpPr>
          <a:xfrm>
            <a:off x="6523021" y="4346333"/>
            <a:ext cx="4906979" cy="848370"/>
            <a:chOff x="6411263" y="4838696"/>
            <a:chExt cx="3944829" cy="848370"/>
          </a:xfrm>
        </p:grpSpPr>
        <p:sp>
          <p:nvSpPr>
            <p:cNvPr id="30" name="Rounded Rectangle 29"/>
            <p:cNvSpPr/>
            <p:nvPr/>
          </p:nvSpPr>
          <p:spPr>
            <a:xfrm>
              <a:off x="6979932" y="4838696"/>
              <a:ext cx="3376160" cy="84837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1363" lvl="1">
                <a:lnSpc>
                  <a:spcPct val="150000"/>
                </a:lnSpc>
                <a:buClr>
                  <a:schemeClr val="tx2"/>
                </a:buClr>
              </a:pPr>
              <a:endParaRPr lang="en-US" dirty="0">
                <a:latin typeface="Times New Roman" panose="02020603050405020304" pitchFamily="18" charset="0"/>
                <a:cs typeface="Times New Roman" panose="02020603050405020304" pitchFamily="18" charset="0"/>
              </a:endParaRPr>
            </a:p>
          </p:txBody>
        </p:sp>
        <p:sp>
          <p:nvSpPr>
            <p:cNvPr id="31" name="TextBox 30"/>
            <p:cNvSpPr txBox="1"/>
            <p:nvPr/>
          </p:nvSpPr>
          <p:spPr>
            <a:xfrm>
              <a:off x="6411263" y="4901136"/>
              <a:ext cx="3944829" cy="646331"/>
            </a:xfrm>
            <a:prstGeom prst="rect">
              <a:avLst/>
            </a:prstGeom>
            <a:noFill/>
          </p:spPr>
          <p:txBody>
            <a:bodyPr wrap="square" rtlCol="0">
              <a:spAutoFit/>
            </a:bodyPr>
            <a:lstStyle/>
            <a:p>
              <a:pPr marL="741363" lvl="1">
                <a:buClr>
                  <a:schemeClr val="tx2"/>
                </a:buClr>
              </a:pPr>
              <a:r>
                <a:rPr lang="en-GB" dirty="0">
                  <a:solidFill>
                    <a:schemeClr val="bg1"/>
                  </a:solidFill>
                  <a:latin typeface="Times New Roman" panose="02020603050405020304" pitchFamily="18" charset="0"/>
                  <a:cs typeface="Times New Roman" panose="02020603050405020304" pitchFamily="18" charset="0"/>
                </a:rPr>
                <a:t>Identify key</a:t>
              </a:r>
              <a:r>
                <a:rPr lang="en-US" dirty="0">
                  <a:solidFill>
                    <a:schemeClr val="bg1"/>
                  </a:solidFill>
                  <a:latin typeface="Times New Roman" panose="02020603050405020304" pitchFamily="18" charset="0"/>
                  <a:cs typeface="Times New Roman" panose="02020603050405020304" pitchFamily="18" charset="0"/>
                </a:rPr>
                <a:t> factors </a:t>
              </a:r>
              <a:r>
                <a:rPr lang="en-GB" dirty="0">
                  <a:solidFill>
                    <a:schemeClr val="bg1"/>
                  </a:solidFill>
                  <a:latin typeface="Times New Roman" panose="02020603050405020304" pitchFamily="18" charset="0"/>
                  <a:cs typeface="Times New Roman" panose="02020603050405020304" pitchFamily="18" charset="0"/>
                </a:rPr>
                <a:t>in training of a good performing autoencoder model</a:t>
              </a:r>
              <a:endParaRPr lang="en-US" dirty="0">
                <a:solidFill>
                  <a:schemeClr val="bg1"/>
                </a:solidFill>
                <a:latin typeface="Times New Roman" panose="02020603050405020304" pitchFamily="18" charset="0"/>
                <a:cs typeface="Times New Roman" panose="02020603050405020304" pitchFamily="18" charset="0"/>
              </a:endParaRPr>
            </a:p>
          </p:txBody>
        </p:sp>
      </p:grpSp>
      <p:grpSp>
        <p:nvGrpSpPr>
          <p:cNvPr id="34" name="Group 33"/>
          <p:cNvGrpSpPr/>
          <p:nvPr/>
        </p:nvGrpSpPr>
        <p:grpSpPr>
          <a:xfrm>
            <a:off x="1756515" y="2936639"/>
            <a:ext cx="3594841" cy="1178626"/>
            <a:chOff x="810777" y="3014946"/>
            <a:chExt cx="3594841" cy="1178626"/>
          </a:xfrm>
        </p:grpSpPr>
        <p:sp>
          <p:nvSpPr>
            <p:cNvPr id="35" name="Snip Diagonal Corner Rectangle 34"/>
            <p:cNvSpPr/>
            <p:nvPr/>
          </p:nvSpPr>
          <p:spPr>
            <a:xfrm>
              <a:off x="810777" y="3014946"/>
              <a:ext cx="3463639" cy="1178626"/>
            </a:xfrm>
            <a:prstGeom prst="snip2Diag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36" name="TextBox 35"/>
            <p:cNvSpPr txBox="1"/>
            <p:nvPr/>
          </p:nvSpPr>
          <p:spPr>
            <a:xfrm>
              <a:off x="905699" y="3134667"/>
              <a:ext cx="3499919" cy="923330"/>
            </a:xfrm>
            <a:prstGeom prst="rect">
              <a:avLst/>
            </a:prstGeom>
            <a:noFill/>
          </p:spPr>
          <p:txBody>
            <a:bodyPr wrap="square" rtlCol="0">
              <a:spAutoFit/>
            </a:bodyPr>
            <a:lstStyle/>
            <a:p>
              <a:pPr marL="0" lvl="1"/>
              <a:r>
                <a:rPr lang="en-US" dirty="0">
                  <a:solidFill>
                    <a:schemeClr val="bg1"/>
                  </a:solidFill>
                  <a:latin typeface="Times New Roman" panose="02020603050405020304" pitchFamily="18" charset="0"/>
                  <a:cs typeface="Times New Roman" panose="02020603050405020304" pitchFamily="18" charset="0"/>
                </a:rPr>
                <a:t>Review of Machine and Learning Approach &amp; Existing methods and </a:t>
              </a:r>
              <a:r>
                <a:rPr lang="en-GB" dirty="0">
                  <a:solidFill>
                    <a:schemeClr val="bg1"/>
                  </a:solidFill>
                  <a:latin typeface="Times New Roman" panose="02020603050405020304" pitchFamily="18" charset="0"/>
                  <a:cs typeface="Times New Roman" panose="02020603050405020304" pitchFamily="18" charset="0"/>
                </a:rPr>
                <a:t>methodology.</a:t>
              </a:r>
              <a:endParaRPr lang="en-US" dirty="0">
                <a:solidFill>
                  <a:schemeClr val="bg1"/>
                </a:solidFill>
                <a:latin typeface="Times New Roman" panose="02020603050405020304" pitchFamily="18" charset="0"/>
                <a:cs typeface="Times New Roman" panose="02020603050405020304" pitchFamily="18" charset="0"/>
              </a:endParaRPr>
            </a:p>
          </p:txBody>
        </p:sp>
      </p:grpSp>
      <p:grpSp>
        <p:nvGrpSpPr>
          <p:cNvPr id="37" name="Group 36"/>
          <p:cNvGrpSpPr/>
          <p:nvPr/>
        </p:nvGrpSpPr>
        <p:grpSpPr>
          <a:xfrm>
            <a:off x="7173183" y="5325403"/>
            <a:ext cx="4006467" cy="1200329"/>
            <a:chOff x="6995421" y="3074288"/>
            <a:chExt cx="3551959" cy="1200329"/>
          </a:xfrm>
        </p:grpSpPr>
        <p:sp>
          <p:nvSpPr>
            <p:cNvPr id="38" name="Snip Diagonal Corner Rectangle 37"/>
            <p:cNvSpPr/>
            <p:nvPr/>
          </p:nvSpPr>
          <p:spPr>
            <a:xfrm>
              <a:off x="6995421" y="3074288"/>
              <a:ext cx="3463639" cy="1178626"/>
            </a:xfrm>
            <a:prstGeom prst="snip2Diag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39" name="TextBox 38"/>
            <p:cNvSpPr txBox="1"/>
            <p:nvPr/>
          </p:nvSpPr>
          <p:spPr>
            <a:xfrm>
              <a:off x="7047461" y="3074288"/>
              <a:ext cx="3499919" cy="1200329"/>
            </a:xfrm>
            <a:prstGeom prst="rect">
              <a:avLst/>
            </a:prstGeom>
            <a:noFill/>
          </p:spPr>
          <p:txBody>
            <a:bodyPr wrap="square" rtlCol="0">
              <a:spAutoFit/>
            </a:bodyPr>
            <a:lstStyle/>
            <a:p>
              <a:pPr marL="0" lvl="1"/>
              <a:r>
                <a:rPr lang="en-GB" dirty="0">
                  <a:solidFill>
                    <a:schemeClr val="bg1"/>
                  </a:solidFill>
                  <a:latin typeface="Times New Roman" panose="02020603050405020304" pitchFamily="18" charset="0"/>
                  <a:cs typeface="Times New Roman" panose="02020603050405020304" pitchFamily="18" charset="0"/>
                </a:rPr>
                <a:t>Investigation of the use of AE, VAE and classical ML model with and without further dimensions reduction</a:t>
              </a:r>
              <a:endParaRPr lang="en-US" dirty="0"/>
            </a:p>
          </p:txBody>
        </p:sp>
      </p:grpSp>
      <p:sp>
        <p:nvSpPr>
          <p:cNvPr id="40" name="Right Arrow 39"/>
          <p:cNvSpPr/>
          <p:nvPr/>
        </p:nvSpPr>
        <p:spPr>
          <a:xfrm>
            <a:off x="5602619" y="2008317"/>
            <a:ext cx="978408" cy="326346"/>
          </a:xfrm>
          <a:prstGeom prst="rightArrow">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ight Arrow 40"/>
          <p:cNvSpPr/>
          <p:nvPr/>
        </p:nvSpPr>
        <p:spPr>
          <a:xfrm>
            <a:off x="5678785" y="3362779"/>
            <a:ext cx="978408" cy="326346"/>
          </a:xfrm>
          <a:prstGeom prst="rightArrow">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ight Arrow 41"/>
          <p:cNvSpPr/>
          <p:nvPr/>
        </p:nvSpPr>
        <p:spPr>
          <a:xfrm>
            <a:off x="5678785" y="4644728"/>
            <a:ext cx="978408" cy="326346"/>
          </a:xfrm>
          <a:prstGeom prst="rightArrow">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Arrow 42"/>
          <p:cNvSpPr/>
          <p:nvPr/>
        </p:nvSpPr>
        <p:spPr>
          <a:xfrm>
            <a:off x="5802456" y="5600651"/>
            <a:ext cx="978408" cy="326346"/>
          </a:xfrm>
          <a:prstGeom prst="rightArrow">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University of Sunderland - Wikipedia">
            <a:extLst>
              <a:ext uri="{FF2B5EF4-FFF2-40B4-BE49-F238E27FC236}">
                <a16:creationId xmlns:a16="http://schemas.microsoft.com/office/drawing/2014/main" id="{7361F83D-1DAD-3FB9-CD01-A9D700539E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70140" y="26611"/>
            <a:ext cx="2197877" cy="1027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4859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8E447EE-981F-3445-AAD4-44D479B9FA6B}"/>
              </a:ext>
            </a:extLst>
          </p:cNvPr>
          <p:cNvSpPr/>
          <p:nvPr/>
        </p:nvSpPr>
        <p:spPr>
          <a:xfrm rot="16926037">
            <a:off x="1806675" y="4346417"/>
            <a:ext cx="1060836" cy="5022514"/>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4">
            <a:extLst>
              <a:ext uri="{FF2B5EF4-FFF2-40B4-BE49-F238E27FC236}">
                <a16:creationId xmlns:a16="http://schemas.microsoft.com/office/drawing/2014/main" id="{C5D2130E-3E3C-2848-BE03-E4BF7B6D4FC1}"/>
              </a:ext>
            </a:extLst>
          </p:cNvPr>
          <p:cNvSpPr/>
          <p:nvPr/>
        </p:nvSpPr>
        <p:spPr>
          <a:xfrm rot="11529462">
            <a:off x="11920736" y="4342955"/>
            <a:ext cx="543464" cy="2620456"/>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rgbClr val="EA5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021C72E9-4FFD-F642-9292-087C1D4DF696}"/>
              </a:ext>
            </a:extLst>
          </p:cNvPr>
          <p:cNvSpPr txBox="1">
            <a:spLocks/>
          </p:cNvSpPr>
          <p:nvPr/>
        </p:nvSpPr>
        <p:spPr>
          <a:xfrm>
            <a:off x="1543749" y="262856"/>
            <a:ext cx="9748290" cy="535923"/>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E30A0A"/>
                </a:solidFill>
                <a:latin typeface="Times New Roman" panose="02020603050405020304" pitchFamily="18" charset="0"/>
                <a:cs typeface="Times New Roman" panose="02020603050405020304" pitchFamily="18" charset="0"/>
              </a:rPr>
              <a:t>STUDY </a:t>
            </a:r>
            <a:r>
              <a:rPr lang="en-GB" sz="3400" b="1" dirty="0">
                <a:solidFill>
                  <a:srgbClr val="E30A0A"/>
                </a:solidFill>
                <a:latin typeface="Times New Roman" panose="02020603050405020304" pitchFamily="18" charset="0"/>
                <a:cs typeface="Times New Roman" panose="02020603050405020304" pitchFamily="18" charset="0"/>
              </a:rPr>
              <a:t>METHODOLOGY FOLLOWED </a:t>
            </a:r>
            <a:endParaRPr lang="en-US" sz="3400" b="1" dirty="0">
              <a:solidFill>
                <a:srgbClr val="E30A0A"/>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08DCD472-5797-E347-942B-FDFD2E5658EE}"/>
              </a:ext>
            </a:extLst>
          </p:cNvPr>
          <p:cNvSpPr txBox="1">
            <a:spLocks/>
          </p:cNvSpPr>
          <p:nvPr/>
        </p:nvSpPr>
        <p:spPr>
          <a:xfrm>
            <a:off x="8495436" y="6546231"/>
            <a:ext cx="3011756" cy="175204"/>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endParaRPr lang="en-US" sz="1100" b="1" dirty="0">
              <a:solidFill>
                <a:srgbClr val="EA521D"/>
              </a:solidFill>
              <a:latin typeface="Arial Black" panose="020B0604020202020204" pitchFamily="34" charset="0"/>
              <a:cs typeface="Arial Black" panose="020B0604020202020204" pitchFamily="34" charset="0"/>
            </a:endParaRPr>
          </a:p>
        </p:txBody>
      </p:sp>
      <p:sp>
        <p:nvSpPr>
          <p:cNvPr id="7" name="Right Arrow 6"/>
          <p:cNvSpPr/>
          <p:nvPr/>
        </p:nvSpPr>
        <p:spPr>
          <a:xfrm>
            <a:off x="545773" y="222368"/>
            <a:ext cx="775667" cy="616900"/>
          </a:xfrm>
          <a:prstGeom prst="rightArrow">
            <a:avLst/>
          </a:pr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University of Sunderland - Wikipedia">
            <a:extLst>
              <a:ext uri="{FF2B5EF4-FFF2-40B4-BE49-F238E27FC236}">
                <a16:creationId xmlns:a16="http://schemas.microsoft.com/office/drawing/2014/main" id="{65FC72B8-561E-75CA-D627-D417A844083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81247" y="68242"/>
            <a:ext cx="2144089" cy="1002362"/>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1.png" descr="Diagram of a diagram of data&#10;&#10;Description automatically generated">
            <a:extLst>
              <a:ext uri="{FF2B5EF4-FFF2-40B4-BE49-F238E27FC236}">
                <a16:creationId xmlns:a16="http://schemas.microsoft.com/office/drawing/2014/main" id="{7934FB9F-D026-7191-9D27-585F58A5D442}"/>
              </a:ext>
            </a:extLst>
          </p:cNvPr>
          <p:cNvPicPr/>
          <p:nvPr/>
        </p:nvPicPr>
        <p:blipFill>
          <a:blip r:embed="rId4"/>
          <a:srcRect/>
          <a:stretch>
            <a:fillRect/>
          </a:stretch>
        </p:blipFill>
        <p:spPr>
          <a:xfrm>
            <a:off x="2337093" y="1070604"/>
            <a:ext cx="7435516" cy="4981074"/>
          </a:xfrm>
          <a:prstGeom prst="rect">
            <a:avLst/>
          </a:prstGeom>
          <a:ln/>
        </p:spPr>
      </p:pic>
      <p:sp>
        <p:nvSpPr>
          <p:cNvPr id="9" name="TextBox 8">
            <a:extLst>
              <a:ext uri="{FF2B5EF4-FFF2-40B4-BE49-F238E27FC236}">
                <a16:creationId xmlns:a16="http://schemas.microsoft.com/office/drawing/2014/main" id="{9F8CC2EF-F898-06A5-C7C2-8F46D11532B3}"/>
              </a:ext>
            </a:extLst>
          </p:cNvPr>
          <p:cNvSpPr txBox="1"/>
          <p:nvPr/>
        </p:nvSpPr>
        <p:spPr>
          <a:xfrm>
            <a:off x="3429000" y="6114288"/>
            <a:ext cx="7135586" cy="369332"/>
          </a:xfrm>
          <a:prstGeom prst="rect">
            <a:avLst/>
          </a:prstGeom>
          <a:noFill/>
        </p:spPr>
        <p:txBody>
          <a:bodyPr wrap="square" rtlCol="0">
            <a:spAutoFit/>
          </a:bodyPr>
          <a:lstStyle/>
          <a:p>
            <a:r>
              <a:rPr lang="en-GB" dirty="0"/>
              <a:t>CRISP-DM (Cross-Industry Standard Process for Data Mining</a:t>
            </a:r>
            <a:r>
              <a:rPr lang="en-GB" dirty="0" smtClean="0"/>
              <a:t>) Framework</a:t>
            </a:r>
            <a:endParaRPr lang="en-US"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913463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8E447EE-981F-3445-AAD4-44D479B9FA6B}"/>
              </a:ext>
            </a:extLst>
          </p:cNvPr>
          <p:cNvSpPr/>
          <p:nvPr/>
        </p:nvSpPr>
        <p:spPr>
          <a:xfrm rot="16926037">
            <a:off x="1806675" y="4346417"/>
            <a:ext cx="1060836" cy="5022514"/>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4">
            <a:extLst>
              <a:ext uri="{FF2B5EF4-FFF2-40B4-BE49-F238E27FC236}">
                <a16:creationId xmlns:a16="http://schemas.microsoft.com/office/drawing/2014/main" id="{C5D2130E-3E3C-2848-BE03-E4BF7B6D4FC1}"/>
              </a:ext>
            </a:extLst>
          </p:cNvPr>
          <p:cNvSpPr/>
          <p:nvPr/>
        </p:nvSpPr>
        <p:spPr>
          <a:xfrm rot="11529462">
            <a:off x="11920736" y="4342955"/>
            <a:ext cx="543464" cy="2620456"/>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rgbClr val="EA5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021C72E9-4FFD-F642-9292-087C1D4DF696}"/>
              </a:ext>
            </a:extLst>
          </p:cNvPr>
          <p:cNvSpPr txBox="1">
            <a:spLocks/>
          </p:cNvSpPr>
          <p:nvPr/>
        </p:nvSpPr>
        <p:spPr>
          <a:xfrm>
            <a:off x="1542863" y="345293"/>
            <a:ext cx="10080149" cy="688009"/>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E30A0A"/>
                </a:solidFill>
                <a:latin typeface="Times New Roman" panose="02020603050405020304" pitchFamily="18" charset="0"/>
                <a:cs typeface="Times New Roman" panose="02020603050405020304" pitchFamily="18" charset="0"/>
              </a:rPr>
              <a:t>PRACTICAL ELEMENT (Implementation)</a:t>
            </a:r>
          </a:p>
        </p:txBody>
      </p:sp>
      <p:sp>
        <p:nvSpPr>
          <p:cNvPr id="7" name="Right Arrow 6"/>
          <p:cNvSpPr/>
          <p:nvPr/>
        </p:nvSpPr>
        <p:spPr>
          <a:xfrm>
            <a:off x="568988" y="298411"/>
            <a:ext cx="775667" cy="616900"/>
          </a:xfrm>
          <a:prstGeom prst="rightArrow">
            <a:avLst/>
          </a:pr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Diagram 5"/>
          <p:cNvGraphicFramePr/>
          <p:nvPr>
            <p:extLst>
              <p:ext uri="{D42A27DB-BD31-4B8C-83A1-F6EECF244321}">
                <p14:modId xmlns:p14="http://schemas.microsoft.com/office/powerpoint/2010/main" val="4105413330"/>
              </p:ext>
            </p:extLst>
          </p:nvPr>
        </p:nvGraphicFramePr>
        <p:xfrm>
          <a:off x="4090475" y="917757"/>
          <a:ext cx="2916805" cy="2573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ounded Rectangle 7"/>
          <p:cNvSpPr/>
          <p:nvPr/>
        </p:nvSpPr>
        <p:spPr>
          <a:xfrm>
            <a:off x="739484" y="1256767"/>
            <a:ext cx="2252049" cy="9597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Customer Personality Analysis Data Collection</a:t>
            </a:r>
          </a:p>
        </p:txBody>
      </p:sp>
      <p:grpSp>
        <p:nvGrpSpPr>
          <p:cNvPr id="31" name="Group 30"/>
          <p:cNvGrpSpPr/>
          <p:nvPr/>
        </p:nvGrpSpPr>
        <p:grpSpPr>
          <a:xfrm>
            <a:off x="7362238" y="1082991"/>
            <a:ext cx="4505634" cy="2945976"/>
            <a:chOff x="7530638" y="1024930"/>
            <a:chExt cx="3182978" cy="2300872"/>
          </a:xfrm>
        </p:grpSpPr>
        <p:sp>
          <p:nvSpPr>
            <p:cNvPr id="21" name="Rounded Rectangle 20"/>
            <p:cNvSpPr/>
            <p:nvPr/>
          </p:nvSpPr>
          <p:spPr>
            <a:xfrm>
              <a:off x="7958137" y="1024930"/>
              <a:ext cx="2286001" cy="83244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Modelling and Model </a:t>
              </a:r>
              <a:r>
                <a:rPr lang="en-GB" b="1" dirty="0">
                  <a:solidFill>
                    <a:schemeClr val="tx1"/>
                  </a:solidFill>
                </a:rPr>
                <a:t>Architecture </a:t>
              </a:r>
              <a:endParaRPr lang="en-US" b="1" dirty="0">
                <a:solidFill>
                  <a:schemeClr val="tx1"/>
                </a:solidFill>
              </a:endParaRPr>
            </a:p>
          </p:txBody>
        </p:sp>
        <p:cxnSp>
          <p:nvCxnSpPr>
            <p:cNvPr id="22" name="Straight Arrow Connector 21"/>
            <p:cNvCxnSpPr>
              <a:cxnSpLocks/>
              <a:endCxn id="29" idx="0"/>
            </p:cNvCxnSpPr>
            <p:nvPr/>
          </p:nvCxnSpPr>
          <p:spPr>
            <a:xfrm flipH="1">
              <a:off x="8068132" y="1827672"/>
              <a:ext cx="9187" cy="10667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p:cNvCxnSpPr>
              <a:cxnSpLocks/>
              <a:endCxn id="30" idx="0"/>
            </p:cNvCxnSpPr>
            <p:nvPr/>
          </p:nvCxnSpPr>
          <p:spPr>
            <a:xfrm>
              <a:off x="10176123" y="1827672"/>
              <a:ext cx="0" cy="10667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Rounded Rectangle 28"/>
            <p:cNvSpPr/>
            <p:nvPr/>
          </p:nvSpPr>
          <p:spPr>
            <a:xfrm>
              <a:off x="7530638" y="2894383"/>
              <a:ext cx="1074987" cy="43141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Autoencoder</a:t>
              </a:r>
            </a:p>
          </p:txBody>
        </p:sp>
        <p:sp>
          <p:nvSpPr>
            <p:cNvPr id="30" name="Rounded Rectangle 29"/>
            <p:cNvSpPr/>
            <p:nvPr/>
          </p:nvSpPr>
          <p:spPr>
            <a:xfrm>
              <a:off x="9638630" y="2894383"/>
              <a:ext cx="1074986" cy="43141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Variational Autoencoder </a:t>
              </a:r>
            </a:p>
          </p:txBody>
        </p:sp>
      </p:grpSp>
      <p:graphicFrame>
        <p:nvGraphicFramePr>
          <p:cNvPr id="32" name="Diagram 31"/>
          <p:cNvGraphicFramePr/>
          <p:nvPr>
            <p:extLst>
              <p:ext uri="{D42A27DB-BD31-4B8C-83A1-F6EECF244321}">
                <p14:modId xmlns:p14="http://schemas.microsoft.com/office/powerpoint/2010/main" val="2634471384"/>
              </p:ext>
            </p:extLst>
          </p:nvPr>
        </p:nvGraphicFramePr>
        <p:xfrm>
          <a:off x="4333160" y="3973110"/>
          <a:ext cx="3612579" cy="27672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33" name="Diagram 32"/>
          <p:cNvGraphicFramePr/>
          <p:nvPr>
            <p:extLst>
              <p:ext uri="{D42A27DB-BD31-4B8C-83A1-F6EECF244321}">
                <p14:modId xmlns:p14="http://schemas.microsoft.com/office/powerpoint/2010/main" val="1431829211"/>
              </p:ext>
            </p:extLst>
          </p:nvPr>
        </p:nvGraphicFramePr>
        <p:xfrm>
          <a:off x="552469" y="3375582"/>
          <a:ext cx="2692790" cy="255603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cxnSp>
        <p:nvCxnSpPr>
          <p:cNvPr id="39" name="Straight Arrow Connector 38"/>
          <p:cNvCxnSpPr>
            <a:cxnSpLocks/>
          </p:cNvCxnSpPr>
          <p:nvPr/>
        </p:nvCxnSpPr>
        <p:spPr>
          <a:xfrm>
            <a:off x="7083394" y="1602220"/>
            <a:ext cx="448783"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pic>
        <p:nvPicPr>
          <p:cNvPr id="4" name="Picture 2" descr="University of Sunderland - Wikipedia">
            <a:extLst>
              <a:ext uri="{FF2B5EF4-FFF2-40B4-BE49-F238E27FC236}">
                <a16:creationId xmlns:a16="http://schemas.microsoft.com/office/drawing/2014/main" id="{33B6396B-9726-63EF-CF03-B973D778ADF7}"/>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10098741" y="79011"/>
            <a:ext cx="1955830" cy="914351"/>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Connector: Curved 11">
            <a:extLst>
              <a:ext uri="{FF2B5EF4-FFF2-40B4-BE49-F238E27FC236}">
                <a16:creationId xmlns:a16="http://schemas.microsoft.com/office/drawing/2014/main" id="{265CF036-1A85-910B-AAAE-628E206C07F5}"/>
              </a:ext>
            </a:extLst>
          </p:cNvPr>
          <p:cNvCxnSpPr>
            <a:cxnSpLocks/>
          </p:cNvCxnSpPr>
          <p:nvPr/>
        </p:nvCxnSpPr>
        <p:spPr>
          <a:xfrm>
            <a:off x="2991533" y="1647436"/>
            <a:ext cx="1098942" cy="544959"/>
          </a:xfrm>
          <a:prstGeom prst="curvedConnector3">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C02EF88-DD74-8B66-C23A-452070120C2D}"/>
              </a:ext>
            </a:extLst>
          </p:cNvPr>
          <p:cNvSpPr txBox="1"/>
          <p:nvPr/>
        </p:nvSpPr>
        <p:spPr>
          <a:xfrm rot="1833287">
            <a:off x="3328232" y="1619894"/>
            <a:ext cx="1019163" cy="369332"/>
          </a:xfrm>
          <a:prstGeom prst="rect">
            <a:avLst/>
          </a:prstGeom>
          <a:noFill/>
        </p:spPr>
        <p:txBody>
          <a:bodyPr wrap="square" rtlCol="0">
            <a:spAutoFit/>
          </a:bodyPr>
          <a:lstStyle/>
          <a:p>
            <a:r>
              <a:rPr lang="en-GB" dirty="0">
                <a:ln w="0"/>
                <a:solidFill>
                  <a:schemeClr val="accent1"/>
                </a:solidFill>
                <a:effectLst>
                  <a:outerShdw blurRad="38100" dist="25400" dir="5400000" algn="ctr" rotWithShape="0">
                    <a:srgbClr val="6E747A">
                      <a:alpha val="43000"/>
                    </a:srgbClr>
                  </a:outerShdw>
                </a:effectLst>
              </a:rPr>
              <a:t>EDA</a:t>
            </a:r>
            <a:endParaRPr lang="en-US" dirty="0">
              <a:ln w="0"/>
              <a:solidFill>
                <a:schemeClr val="accent1"/>
              </a:solidFill>
              <a:effectLst>
                <a:outerShdw blurRad="38100" dist="25400" dir="5400000" algn="ctr" rotWithShape="0">
                  <a:srgbClr val="6E747A">
                    <a:alpha val="43000"/>
                  </a:srgbClr>
                </a:outerShdw>
              </a:effectLst>
            </a:endParaRPr>
          </a:p>
        </p:txBody>
      </p:sp>
      <p:cxnSp>
        <p:nvCxnSpPr>
          <p:cNvPr id="24" name="Straight Arrow Connector 23">
            <a:extLst>
              <a:ext uri="{FF2B5EF4-FFF2-40B4-BE49-F238E27FC236}">
                <a16:creationId xmlns:a16="http://schemas.microsoft.com/office/drawing/2014/main" id="{6D25C698-9394-4C90-EE97-5A2A638A3826}"/>
              </a:ext>
            </a:extLst>
          </p:cNvPr>
          <p:cNvCxnSpPr>
            <a:cxnSpLocks/>
            <a:stCxn id="21" idx="2"/>
            <a:endCxn id="25" idx="0"/>
          </p:cNvCxnSpPr>
          <p:nvPr/>
        </p:nvCxnSpPr>
        <p:spPr>
          <a:xfrm flipH="1">
            <a:off x="9585343" y="2148832"/>
            <a:ext cx="1" cy="2789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Rounded Rectangle 28">
            <a:extLst>
              <a:ext uri="{FF2B5EF4-FFF2-40B4-BE49-F238E27FC236}">
                <a16:creationId xmlns:a16="http://schemas.microsoft.com/office/drawing/2014/main" id="{C6CA057B-5095-0306-3698-E3F7A7FFC437}"/>
              </a:ext>
            </a:extLst>
          </p:cNvPr>
          <p:cNvSpPr/>
          <p:nvPr/>
        </p:nvSpPr>
        <p:spPr>
          <a:xfrm>
            <a:off x="8824499" y="2427816"/>
            <a:ext cx="1521687" cy="90988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K</a:t>
            </a:r>
            <a:r>
              <a:rPr lang="en-US" dirty="0">
                <a:solidFill>
                  <a:schemeClr val="tx1"/>
                </a:solidFill>
              </a:rPr>
              <a:t>mean, DBSCAN</a:t>
            </a:r>
          </a:p>
          <a:p>
            <a:pPr algn="ctr"/>
            <a:r>
              <a:rPr lang="en-US" dirty="0">
                <a:solidFill>
                  <a:schemeClr val="tx1"/>
                </a:solidFill>
              </a:rPr>
              <a:t>Hierarchical</a:t>
            </a:r>
          </a:p>
        </p:txBody>
      </p:sp>
      <p:cxnSp>
        <p:nvCxnSpPr>
          <p:cNvPr id="50" name="Straight Connector 49">
            <a:extLst>
              <a:ext uri="{FF2B5EF4-FFF2-40B4-BE49-F238E27FC236}">
                <a16:creationId xmlns:a16="http://schemas.microsoft.com/office/drawing/2014/main" id="{85551EFC-CB04-8B8A-D097-68D6BFB63AC4}"/>
              </a:ext>
            </a:extLst>
          </p:cNvPr>
          <p:cNvCxnSpPr>
            <a:cxnSpLocks/>
          </p:cNvCxnSpPr>
          <p:nvPr/>
        </p:nvCxnSpPr>
        <p:spPr>
          <a:xfrm>
            <a:off x="7656589" y="4315113"/>
            <a:ext cx="399430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DACBEC1A-7AE9-875F-1740-62D5DF0DD28D}"/>
              </a:ext>
            </a:extLst>
          </p:cNvPr>
          <p:cNvCxnSpPr/>
          <p:nvPr/>
        </p:nvCxnSpPr>
        <p:spPr>
          <a:xfrm rot="10800000" flipV="1">
            <a:off x="7945739" y="4315113"/>
            <a:ext cx="1708001" cy="974139"/>
          </a:xfrm>
          <a:prstGeom prst="bentConnector3">
            <a:avLst>
              <a:gd name="adj1" fmla="val -19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B3583712-1B64-93CD-03FA-8CF1064CE617}"/>
              </a:ext>
            </a:extLst>
          </p:cNvPr>
          <p:cNvSpPr txBox="1"/>
          <p:nvPr/>
        </p:nvSpPr>
        <p:spPr>
          <a:xfrm>
            <a:off x="8442342" y="5285287"/>
            <a:ext cx="2286000" cy="646331"/>
          </a:xfrm>
          <a:prstGeom prst="rect">
            <a:avLst/>
          </a:prstGeom>
          <a:noFill/>
        </p:spPr>
        <p:txBody>
          <a:bodyPr wrap="square" rtlCol="0">
            <a:spAutoFit/>
          </a:bodyPr>
          <a:lstStyle/>
          <a:p>
            <a:pPr algn="ctr"/>
            <a:r>
              <a:rPr lang="en-GB" b="1" dirty="0">
                <a:ln w="0"/>
                <a:solidFill>
                  <a:schemeClr val="accent1"/>
                </a:solidFill>
                <a:effectLst>
                  <a:outerShdw blurRad="38100" dist="25400" dir="5400000" algn="ctr" rotWithShape="0">
                    <a:srgbClr val="6E747A">
                      <a:alpha val="43000"/>
                    </a:srgbClr>
                  </a:outerShdw>
                </a:effectLst>
              </a:rPr>
              <a:t>Clustering with and</a:t>
            </a:r>
          </a:p>
          <a:p>
            <a:pPr algn="ctr"/>
            <a:r>
              <a:rPr lang="en-GB" b="1" dirty="0">
                <a:ln w="0"/>
                <a:solidFill>
                  <a:schemeClr val="accent1"/>
                </a:solidFill>
                <a:effectLst>
                  <a:outerShdw blurRad="38100" dist="25400" dir="5400000" algn="ctr" rotWithShape="0">
                    <a:srgbClr val="6E747A">
                      <a:alpha val="43000"/>
                    </a:srgbClr>
                  </a:outerShdw>
                </a:effectLst>
              </a:rPr>
              <a:t>Without PCA</a:t>
            </a:r>
            <a:endParaRPr lang="en-US" b="1" dirty="0">
              <a:ln w="0"/>
              <a:solidFill>
                <a:schemeClr val="accent1"/>
              </a:solidFill>
              <a:effectLst>
                <a:outerShdw blurRad="38100" dist="25400" dir="5400000" algn="ctr" rotWithShape="0">
                  <a:srgbClr val="6E747A">
                    <a:alpha val="43000"/>
                  </a:srgbClr>
                </a:outerShdw>
              </a:effectLst>
            </a:endParaRPr>
          </a:p>
        </p:txBody>
      </p:sp>
      <p:cxnSp>
        <p:nvCxnSpPr>
          <p:cNvPr id="57" name="Connector: Curved 56">
            <a:extLst>
              <a:ext uri="{FF2B5EF4-FFF2-40B4-BE49-F238E27FC236}">
                <a16:creationId xmlns:a16="http://schemas.microsoft.com/office/drawing/2014/main" id="{25EB1A81-9C98-7631-D386-073C7874396B}"/>
              </a:ext>
            </a:extLst>
          </p:cNvPr>
          <p:cNvCxnSpPr>
            <a:cxnSpLocks/>
            <a:endCxn id="33" idx="3"/>
          </p:cNvCxnSpPr>
          <p:nvPr/>
        </p:nvCxnSpPr>
        <p:spPr>
          <a:xfrm rot="10800000">
            <a:off x="3245260" y="4653601"/>
            <a:ext cx="1489269" cy="792487"/>
          </a:xfrm>
          <a:prstGeom prst="curvedConnector3">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0355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8E447EE-981F-3445-AAD4-44D479B9FA6B}"/>
              </a:ext>
            </a:extLst>
          </p:cNvPr>
          <p:cNvSpPr/>
          <p:nvPr/>
        </p:nvSpPr>
        <p:spPr>
          <a:xfrm rot="16926037">
            <a:off x="1806675" y="4346417"/>
            <a:ext cx="1060836" cy="5022514"/>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4">
            <a:extLst>
              <a:ext uri="{FF2B5EF4-FFF2-40B4-BE49-F238E27FC236}">
                <a16:creationId xmlns:a16="http://schemas.microsoft.com/office/drawing/2014/main" id="{C5D2130E-3E3C-2848-BE03-E4BF7B6D4FC1}"/>
              </a:ext>
            </a:extLst>
          </p:cNvPr>
          <p:cNvSpPr/>
          <p:nvPr/>
        </p:nvSpPr>
        <p:spPr>
          <a:xfrm rot="11529462">
            <a:off x="11920736" y="4342955"/>
            <a:ext cx="543464" cy="2620456"/>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rgbClr val="EA5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021C72E9-4FFD-F642-9292-087C1D4DF696}"/>
              </a:ext>
            </a:extLst>
          </p:cNvPr>
          <p:cNvSpPr txBox="1">
            <a:spLocks/>
          </p:cNvSpPr>
          <p:nvPr/>
        </p:nvSpPr>
        <p:spPr>
          <a:xfrm>
            <a:off x="1291159" y="552636"/>
            <a:ext cx="9116308" cy="688009"/>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b="1" dirty="0">
                <a:solidFill>
                  <a:srgbClr val="E30A0A"/>
                </a:solidFill>
                <a:latin typeface="Times New Roman" panose="02020603050405020304" pitchFamily="18" charset="0"/>
                <a:cs typeface="Times New Roman" panose="02020603050405020304" pitchFamily="18" charset="0"/>
              </a:rPr>
              <a:t>OUTCOMES AND RESULTS (Model Result)</a:t>
            </a:r>
          </a:p>
        </p:txBody>
      </p:sp>
      <p:sp>
        <p:nvSpPr>
          <p:cNvPr id="7" name="Right Arrow 6"/>
          <p:cNvSpPr/>
          <p:nvPr/>
        </p:nvSpPr>
        <p:spPr>
          <a:xfrm>
            <a:off x="258452" y="552636"/>
            <a:ext cx="775667" cy="616900"/>
          </a:xfrm>
          <a:prstGeom prst="rightArrow">
            <a:avLst/>
          </a:pr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University of Sunderland - Wikipedia">
            <a:extLst>
              <a:ext uri="{FF2B5EF4-FFF2-40B4-BE49-F238E27FC236}">
                <a16:creationId xmlns:a16="http://schemas.microsoft.com/office/drawing/2014/main" id="{32ED8290-8ABB-3916-7328-E2810C8104B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54883" y="99739"/>
            <a:ext cx="2378665" cy="111202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949B5F4-3E0E-863A-217B-82A3422E39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34859" y="1169536"/>
            <a:ext cx="9116308" cy="4988378"/>
          </a:xfrm>
          <a:prstGeom prst="rect">
            <a:avLst/>
          </a:prstGeom>
          <a:noFill/>
          <a:ln>
            <a:noFill/>
          </a:ln>
        </p:spPr>
      </p:pic>
    </p:spTree>
    <p:extLst>
      <p:ext uri="{BB962C8B-B14F-4D97-AF65-F5344CB8AC3E}">
        <p14:creationId xmlns:p14="http://schemas.microsoft.com/office/powerpoint/2010/main" val="2482051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8E447EE-981F-3445-AAD4-44D479B9FA6B}"/>
              </a:ext>
            </a:extLst>
          </p:cNvPr>
          <p:cNvSpPr/>
          <p:nvPr/>
        </p:nvSpPr>
        <p:spPr>
          <a:xfrm rot="16926037">
            <a:off x="1806675" y="4346417"/>
            <a:ext cx="1060836" cy="5022514"/>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4">
            <a:extLst>
              <a:ext uri="{FF2B5EF4-FFF2-40B4-BE49-F238E27FC236}">
                <a16:creationId xmlns:a16="http://schemas.microsoft.com/office/drawing/2014/main" id="{C5D2130E-3E3C-2848-BE03-E4BF7B6D4FC1}"/>
              </a:ext>
            </a:extLst>
          </p:cNvPr>
          <p:cNvSpPr/>
          <p:nvPr/>
        </p:nvSpPr>
        <p:spPr>
          <a:xfrm rot="11529462">
            <a:off x="11920736" y="4342955"/>
            <a:ext cx="543464" cy="2620456"/>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rgbClr val="EA5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021C72E9-4FFD-F642-9292-087C1D4DF696}"/>
              </a:ext>
            </a:extLst>
          </p:cNvPr>
          <p:cNvSpPr txBox="1">
            <a:spLocks/>
          </p:cNvSpPr>
          <p:nvPr/>
        </p:nvSpPr>
        <p:spPr>
          <a:xfrm>
            <a:off x="1727905" y="571307"/>
            <a:ext cx="8787695" cy="688009"/>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b="1" dirty="0">
                <a:solidFill>
                  <a:srgbClr val="E30A0A"/>
                </a:solidFill>
                <a:latin typeface="Times New Roman" panose="02020603050405020304" pitchFamily="18" charset="0"/>
                <a:cs typeface="Times New Roman" panose="02020603050405020304" pitchFamily="18" charset="0"/>
              </a:rPr>
              <a:t>OUTCOMES AND RESULTS (Comparison)</a:t>
            </a:r>
          </a:p>
        </p:txBody>
      </p:sp>
      <p:sp>
        <p:nvSpPr>
          <p:cNvPr id="7" name="Right Arrow 6"/>
          <p:cNvSpPr/>
          <p:nvPr/>
        </p:nvSpPr>
        <p:spPr>
          <a:xfrm>
            <a:off x="695324" y="490330"/>
            <a:ext cx="775667" cy="616900"/>
          </a:xfrm>
          <a:prstGeom prst="rightArrow">
            <a:avLst/>
          </a:pr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University of Sunderland - Wikipedia">
            <a:extLst>
              <a:ext uri="{FF2B5EF4-FFF2-40B4-BE49-F238E27FC236}">
                <a16:creationId xmlns:a16="http://schemas.microsoft.com/office/drawing/2014/main" id="{3DF530CA-AC8B-B39D-3958-4F72B2EA9A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41541" y="145306"/>
            <a:ext cx="2374666" cy="111015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0FC737C9-8E15-A0D9-1B27-804E44063213}"/>
              </a:ext>
            </a:extLst>
          </p:cNvPr>
          <p:cNvGraphicFramePr>
            <a:graphicFrameLocks noGrp="1"/>
          </p:cNvGraphicFramePr>
          <p:nvPr>
            <p:extLst>
              <p:ext uri="{D42A27DB-BD31-4B8C-83A1-F6EECF244321}">
                <p14:modId xmlns:p14="http://schemas.microsoft.com/office/powerpoint/2010/main" val="3691385894"/>
              </p:ext>
            </p:extLst>
          </p:nvPr>
        </p:nvGraphicFramePr>
        <p:xfrm>
          <a:off x="695324" y="1533230"/>
          <a:ext cx="5252368" cy="4366130"/>
        </p:xfrm>
        <a:graphic>
          <a:graphicData uri="http://schemas.openxmlformats.org/drawingml/2006/table">
            <a:tbl>
              <a:tblPr firstRow="1" firstCol="1">
                <a:tableStyleId>{5C22544A-7EE6-4342-B048-85BDC9FD1C3A}</a:tableStyleId>
              </a:tblPr>
              <a:tblGrid>
                <a:gridCol w="1313092">
                  <a:extLst>
                    <a:ext uri="{9D8B030D-6E8A-4147-A177-3AD203B41FA5}">
                      <a16:colId xmlns:a16="http://schemas.microsoft.com/office/drawing/2014/main" val="3166971043"/>
                    </a:ext>
                  </a:extLst>
                </a:gridCol>
                <a:gridCol w="1313092">
                  <a:extLst>
                    <a:ext uri="{9D8B030D-6E8A-4147-A177-3AD203B41FA5}">
                      <a16:colId xmlns:a16="http://schemas.microsoft.com/office/drawing/2014/main" val="2875232549"/>
                    </a:ext>
                  </a:extLst>
                </a:gridCol>
                <a:gridCol w="1313092">
                  <a:extLst>
                    <a:ext uri="{9D8B030D-6E8A-4147-A177-3AD203B41FA5}">
                      <a16:colId xmlns:a16="http://schemas.microsoft.com/office/drawing/2014/main" val="2693057577"/>
                    </a:ext>
                  </a:extLst>
                </a:gridCol>
                <a:gridCol w="1313092">
                  <a:extLst>
                    <a:ext uri="{9D8B030D-6E8A-4147-A177-3AD203B41FA5}">
                      <a16:colId xmlns:a16="http://schemas.microsoft.com/office/drawing/2014/main" val="387256657"/>
                    </a:ext>
                  </a:extLst>
                </a:gridCol>
              </a:tblGrid>
              <a:tr h="699821">
                <a:tc>
                  <a:txBody>
                    <a:bodyPr/>
                    <a:lstStyle/>
                    <a:p>
                      <a:pPr marL="0" marR="0" algn="just">
                        <a:lnSpc>
                          <a:spcPct val="150000"/>
                        </a:lnSpc>
                        <a:spcBef>
                          <a:spcPts val="0"/>
                        </a:spcBef>
                        <a:spcAft>
                          <a:spcPts val="0"/>
                        </a:spcAft>
                      </a:pPr>
                      <a:r>
                        <a:rPr lang="en-US" sz="1200" b="1">
                          <a:effectLst/>
                        </a:rPr>
                        <a:t>Paper</a:t>
                      </a:r>
                      <a:endParaRPr lang="en-US" sz="12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US" sz="1200" b="1" dirty="0">
                          <a:effectLst/>
                        </a:rPr>
                        <a:t>Methods</a:t>
                      </a:r>
                      <a:endParaRPr lang="en-US" sz="12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GB" sz="1200" b="1" dirty="0">
                          <a:effectLst/>
                        </a:rPr>
                        <a:t>Silhouette Score</a:t>
                      </a:r>
                      <a:endParaRPr lang="en-US" sz="1200" b="1" dirty="0">
                        <a:effectLst/>
                        <a:latin typeface="Times New Roman" panose="02020603050405020304" pitchFamily="18" charset="0"/>
                        <a:ea typeface="Times New Roman" panose="02020603050405020304" pitchFamily="18" charset="0"/>
                      </a:endParaRPr>
                    </a:p>
                    <a:p>
                      <a:pPr marL="0" marR="0" algn="just">
                        <a:lnSpc>
                          <a:spcPct val="150000"/>
                        </a:lnSpc>
                        <a:spcBef>
                          <a:spcPts val="0"/>
                        </a:spcBef>
                        <a:spcAft>
                          <a:spcPts val="0"/>
                        </a:spcAft>
                      </a:pPr>
                      <a:endParaRPr lang="en-US" sz="12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GB" sz="1200" b="1" dirty="0">
                          <a:effectLst/>
                        </a:rPr>
                        <a:t>Calinski-</a:t>
                      </a:r>
                      <a:r>
                        <a:rPr lang="en-GB" sz="1200" b="1" dirty="0" err="1">
                          <a:effectLst/>
                        </a:rPr>
                        <a:t>Harabasz</a:t>
                      </a:r>
                      <a:r>
                        <a:rPr lang="en-GB" sz="1200" b="1" dirty="0">
                          <a:effectLst/>
                        </a:rPr>
                        <a:t> Index</a:t>
                      </a:r>
                      <a:endParaRPr lang="en-US" sz="12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41440263"/>
                  </a:ext>
                </a:extLst>
              </a:tr>
              <a:tr h="699821">
                <a:tc rowSpan="2">
                  <a:txBody>
                    <a:bodyPr/>
                    <a:lstStyle/>
                    <a:p>
                      <a:pPr marL="0" marR="0" algn="just">
                        <a:lnSpc>
                          <a:spcPct val="150000"/>
                        </a:lnSpc>
                        <a:spcBef>
                          <a:spcPts val="0"/>
                        </a:spcBef>
                        <a:spcAft>
                          <a:spcPts val="0"/>
                        </a:spcAft>
                      </a:pPr>
                      <a:r>
                        <a:rPr lang="en-GB" sz="1200">
                          <a:effectLst/>
                        </a:rPr>
                        <a:t>Li et al., 2021</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GB" sz="1200">
                          <a:effectLst/>
                        </a:rPr>
                        <a:t>KM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GB" sz="1200">
                          <a:effectLst/>
                        </a:rPr>
                        <a:t>0.352</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GB" sz="1200">
                          <a:effectLst/>
                        </a:rPr>
                        <a:t>1316.942</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84739956"/>
                  </a:ext>
                </a:extLst>
              </a:tr>
              <a:tr h="1483244">
                <a:tc vMerge="1">
                  <a:txBody>
                    <a:bodyPr/>
                    <a:lstStyle/>
                    <a:p>
                      <a:endParaRPr lang="en-US"/>
                    </a:p>
                  </a:txBody>
                  <a:tcPr/>
                </a:tc>
                <a:tc>
                  <a:txBody>
                    <a:bodyPr/>
                    <a:lstStyle/>
                    <a:p>
                      <a:pPr marL="0" marR="0" algn="just">
                        <a:lnSpc>
                          <a:spcPct val="150000"/>
                        </a:lnSpc>
                        <a:spcBef>
                          <a:spcPts val="0"/>
                        </a:spcBef>
                        <a:spcAft>
                          <a:spcPts val="0"/>
                        </a:spcAft>
                      </a:pPr>
                      <a:r>
                        <a:rPr lang="pt-PT" sz="1200">
                          <a:effectLst/>
                        </a:rPr>
                        <a:t>KM-PSO (particle swam optimasation)</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GB" sz="1200">
                          <a:effectLst/>
                        </a:rPr>
                        <a:t>0.370</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GB" sz="1200" dirty="0">
                          <a:effectLst/>
                        </a:rPr>
                        <a:t>3392.283</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191565654"/>
                  </a:ext>
                </a:extLst>
              </a:tr>
              <a:tr h="1483244">
                <a:tc>
                  <a:txBody>
                    <a:bodyPr/>
                    <a:lstStyle/>
                    <a:p>
                      <a:pPr marL="0" marR="0" algn="just">
                        <a:lnSpc>
                          <a:spcPct val="150000"/>
                        </a:lnSpc>
                        <a:spcBef>
                          <a:spcPts val="0"/>
                        </a:spcBef>
                        <a:spcAft>
                          <a:spcPts val="0"/>
                        </a:spcAft>
                      </a:pPr>
                      <a:r>
                        <a:rPr lang="en-GB" sz="1200">
                          <a:effectLst/>
                        </a:rPr>
                        <a:t>Wu and Wang, (2022)</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pt-PT" sz="1200">
                          <a:effectLst/>
                        </a:rPr>
                        <a:t>Autoencoder</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GB" sz="1200">
                          <a:effectLst/>
                        </a:rPr>
                        <a:t>--</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GB" sz="1200" dirty="0">
                          <a:effectLst/>
                        </a:rPr>
                        <a:t>506</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41270726"/>
                  </a:ext>
                </a:extLst>
              </a:tr>
            </a:tbl>
          </a:graphicData>
        </a:graphic>
      </p:graphicFrame>
      <p:graphicFrame>
        <p:nvGraphicFramePr>
          <p:cNvPr id="11" name="Table 10">
            <a:extLst>
              <a:ext uri="{FF2B5EF4-FFF2-40B4-BE49-F238E27FC236}">
                <a16:creationId xmlns:a16="http://schemas.microsoft.com/office/drawing/2014/main" id="{7F77FC17-EF1F-5F77-135D-74909614BBC8}"/>
              </a:ext>
            </a:extLst>
          </p:cNvPr>
          <p:cNvGraphicFramePr>
            <a:graphicFrameLocks noGrp="1"/>
          </p:cNvGraphicFramePr>
          <p:nvPr>
            <p:extLst>
              <p:ext uri="{D42A27DB-BD31-4B8C-83A1-F6EECF244321}">
                <p14:modId xmlns:p14="http://schemas.microsoft.com/office/powerpoint/2010/main" val="21451945"/>
              </p:ext>
            </p:extLst>
          </p:nvPr>
        </p:nvGraphicFramePr>
        <p:xfrm>
          <a:off x="6415088" y="1548889"/>
          <a:ext cx="5081583" cy="4366131"/>
        </p:xfrm>
        <a:graphic>
          <a:graphicData uri="http://schemas.openxmlformats.org/drawingml/2006/table">
            <a:tbl>
              <a:tblPr firstRow="1" firstCol="1">
                <a:tableStyleId>{5C22544A-7EE6-4342-B048-85BDC9FD1C3A}</a:tableStyleId>
              </a:tblPr>
              <a:tblGrid>
                <a:gridCol w="1573569">
                  <a:extLst>
                    <a:ext uri="{9D8B030D-6E8A-4147-A177-3AD203B41FA5}">
                      <a16:colId xmlns:a16="http://schemas.microsoft.com/office/drawing/2014/main" val="3175191191"/>
                    </a:ext>
                  </a:extLst>
                </a:gridCol>
                <a:gridCol w="1412551">
                  <a:extLst>
                    <a:ext uri="{9D8B030D-6E8A-4147-A177-3AD203B41FA5}">
                      <a16:colId xmlns:a16="http://schemas.microsoft.com/office/drawing/2014/main" val="3151741183"/>
                    </a:ext>
                  </a:extLst>
                </a:gridCol>
                <a:gridCol w="2095463">
                  <a:extLst>
                    <a:ext uri="{9D8B030D-6E8A-4147-A177-3AD203B41FA5}">
                      <a16:colId xmlns:a16="http://schemas.microsoft.com/office/drawing/2014/main" val="2125905833"/>
                    </a:ext>
                  </a:extLst>
                </a:gridCol>
              </a:tblGrid>
              <a:tr h="396921">
                <a:tc>
                  <a:txBody>
                    <a:bodyPr/>
                    <a:lstStyle/>
                    <a:p>
                      <a:pPr marL="0" marR="0" algn="l">
                        <a:lnSpc>
                          <a:spcPct val="107000"/>
                        </a:lnSpc>
                        <a:spcBef>
                          <a:spcPts val="0"/>
                        </a:spcBef>
                        <a:spcAft>
                          <a:spcPts val="800"/>
                        </a:spcAft>
                      </a:pPr>
                      <a:r>
                        <a:rPr lang="en-GB" sz="1400" b="1">
                          <a:effectLst/>
                        </a:rPr>
                        <a:t>Method</a:t>
                      </a:r>
                      <a:endParaRPr lang="en-US" sz="14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400" b="1" dirty="0">
                          <a:effectLst/>
                        </a:rPr>
                        <a:t>Silhouette Score</a:t>
                      </a:r>
                      <a:endParaRPr lang="en-US" sz="14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400" b="1" dirty="0">
                          <a:effectLst/>
                        </a:rPr>
                        <a:t>Calinski-</a:t>
                      </a:r>
                      <a:r>
                        <a:rPr lang="en-GB" sz="1400" b="1" dirty="0" err="1">
                          <a:effectLst/>
                        </a:rPr>
                        <a:t>Harabasz</a:t>
                      </a:r>
                      <a:r>
                        <a:rPr lang="en-GB" sz="1400" b="1" dirty="0">
                          <a:effectLst/>
                        </a:rPr>
                        <a:t> Index</a:t>
                      </a:r>
                      <a:endParaRPr lang="en-US" sz="14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6394107"/>
                  </a:ext>
                </a:extLst>
              </a:tr>
              <a:tr h="396921">
                <a:tc>
                  <a:txBody>
                    <a:bodyPr/>
                    <a:lstStyle/>
                    <a:p>
                      <a:pPr marL="0" marR="0" algn="l">
                        <a:lnSpc>
                          <a:spcPct val="107000"/>
                        </a:lnSpc>
                        <a:spcBef>
                          <a:spcPts val="0"/>
                        </a:spcBef>
                        <a:spcAft>
                          <a:spcPts val="800"/>
                        </a:spcAft>
                      </a:pPr>
                      <a:r>
                        <a:rPr lang="en-GB" sz="1200">
                          <a:effectLst/>
                        </a:rPr>
                        <a:t>Autoencoder</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0.115328</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dirty="0">
                          <a:effectLst/>
                        </a:rPr>
                        <a:t>238.210063</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8357559"/>
                  </a:ext>
                </a:extLst>
              </a:tr>
              <a:tr h="396921">
                <a:tc>
                  <a:txBody>
                    <a:bodyPr/>
                    <a:lstStyle/>
                    <a:p>
                      <a:pPr marL="0" marR="0" algn="l">
                        <a:lnSpc>
                          <a:spcPct val="107000"/>
                        </a:lnSpc>
                        <a:spcBef>
                          <a:spcPts val="0"/>
                        </a:spcBef>
                        <a:spcAft>
                          <a:spcPts val="800"/>
                        </a:spcAft>
                      </a:pPr>
                      <a:r>
                        <a:rPr lang="en-GB" sz="1200">
                          <a:solidFill>
                            <a:srgbClr val="FF0000"/>
                          </a:solidFill>
                          <a:effectLst/>
                        </a:rPr>
                        <a:t>Autoencoder PCA</a:t>
                      </a:r>
                      <a:endParaRPr lang="en-US" sz="1200">
                        <a:solidFill>
                          <a:srgbClr val="FF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solidFill>
                            <a:srgbClr val="FF0000"/>
                          </a:solidFill>
                          <a:effectLst/>
                        </a:rPr>
                        <a:t>0.439293</a:t>
                      </a:r>
                      <a:endParaRPr lang="en-US" sz="1200">
                        <a:solidFill>
                          <a:srgbClr val="FF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dirty="0">
                          <a:solidFill>
                            <a:srgbClr val="FF0000"/>
                          </a:solidFill>
                          <a:effectLst/>
                        </a:rPr>
                        <a:t>2299.436458</a:t>
                      </a:r>
                      <a:endParaRPr lang="en-US"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015604531"/>
                  </a:ext>
                </a:extLst>
              </a:tr>
              <a:tr h="396921">
                <a:tc>
                  <a:txBody>
                    <a:bodyPr/>
                    <a:lstStyle/>
                    <a:p>
                      <a:pPr marL="0" marR="0" algn="l">
                        <a:lnSpc>
                          <a:spcPct val="107000"/>
                        </a:lnSpc>
                        <a:spcBef>
                          <a:spcPts val="0"/>
                        </a:spcBef>
                        <a:spcAft>
                          <a:spcPts val="800"/>
                        </a:spcAft>
                      </a:pPr>
                      <a:r>
                        <a:rPr lang="en-GB" sz="1200" dirty="0">
                          <a:effectLst/>
                        </a:rPr>
                        <a:t>VAE</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0.003647</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8.008472</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84718601"/>
                  </a:ext>
                </a:extLst>
              </a:tr>
              <a:tr h="396921">
                <a:tc>
                  <a:txBody>
                    <a:bodyPr/>
                    <a:lstStyle/>
                    <a:p>
                      <a:pPr marL="0" marR="0" algn="l">
                        <a:lnSpc>
                          <a:spcPct val="107000"/>
                        </a:lnSpc>
                        <a:spcBef>
                          <a:spcPts val="0"/>
                        </a:spcBef>
                        <a:spcAft>
                          <a:spcPts val="800"/>
                        </a:spcAft>
                      </a:pPr>
                      <a:r>
                        <a:rPr lang="en-GB" sz="1200">
                          <a:effectLst/>
                        </a:rPr>
                        <a:t>VAE PCA</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0.307383</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1305.442805</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98325400"/>
                  </a:ext>
                </a:extLst>
              </a:tr>
              <a:tr h="396921">
                <a:tc>
                  <a:txBody>
                    <a:bodyPr/>
                    <a:lstStyle/>
                    <a:p>
                      <a:pPr marL="0" marR="0" algn="l">
                        <a:lnSpc>
                          <a:spcPct val="107000"/>
                        </a:lnSpc>
                        <a:spcBef>
                          <a:spcPts val="0"/>
                        </a:spcBef>
                        <a:spcAft>
                          <a:spcPts val="800"/>
                        </a:spcAft>
                      </a:pPr>
                      <a:r>
                        <a:rPr lang="en-GB" sz="1200">
                          <a:effectLst/>
                        </a:rPr>
                        <a:t>K-means</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0.278314</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1123.890273</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968588906"/>
                  </a:ext>
                </a:extLst>
              </a:tr>
              <a:tr h="396921">
                <a:tc>
                  <a:txBody>
                    <a:bodyPr/>
                    <a:lstStyle/>
                    <a:p>
                      <a:pPr marL="0" marR="0" algn="l">
                        <a:lnSpc>
                          <a:spcPct val="107000"/>
                        </a:lnSpc>
                        <a:spcBef>
                          <a:spcPts val="0"/>
                        </a:spcBef>
                        <a:spcAft>
                          <a:spcPts val="800"/>
                        </a:spcAft>
                      </a:pPr>
                      <a:r>
                        <a:rPr lang="en-GB" sz="1200">
                          <a:solidFill>
                            <a:srgbClr val="FF0000"/>
                          </a:solidFill>
                          <a:effectLst/>
                        </a:rPr>
                        <a:t>K-Means with PCA</a:t>
                      </a:r>
                      <a:endParaRPr lang="en-US" sz="1200">
                        <a:solidFill>
                          <a:srgbClr val="FF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solidFill>
                            <a:srgbClr val="FF0000"/>
                          </a:solidFill>
                          <a:effectLst/>
                        </a:rPr>
                        <a:t>0.4268</a:t>
                      </a:r>
                      <a:endParaRPr lang="en-US" sz="1200">
                        <a:solidFill>
                          <a:srgbClr val="FF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dirty="0">
                          <a:solidFill>
                            <a:srgbClr val="FF0000"/>
                          </a:solidFill>
                          <a:effectLst/>
                        </a:rPr>
                        <a:t>1913.4799</a:t>
                      </a:r>
                      <a:endParaRPr lang="en-US"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02572295"/>
                  </a:ext>
                </a:extLst>
              </a:tr>
              <a:tr h="396921">
                <a:tc>
                  <a:txBody>
                    <a:bodyPr/>
                    <a:lstStyle/>
                    <a:p>
                      <a:pPr marL="0" marR="0" algn="l">
                        <a:lnSpc>
                          <a:spcPct val="107000"/>
                        </a:lnSpc>
                        <a:spcBef>
                          <a:spcPts val="0"/>
                        </a:spcBef>
                        <a:spcAft>
                          <a:spcPts val="800"/>
                        </a:spcAft>
                      </a:pPr>
                      <a:r>
                        <a:rPr lang="en-GB" sz="1200">
                          <a:effectLst/>
                        </a:rPr>
                        <a:t>DBSCAN</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0.134897</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203.678912</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41947259"/>
                  </a:ext>
                </a:extLst>
              </a:tr>
              <a:tr h="396921">
                <a:tc>
                  <a:txBody>
                    <a:bodyPr/>
                    <a:lstStyle/>
                    <a:p>
                      <a:pPr marL="0" marR="0" algn="l">
                        <a:lnSpc>
                          <a:spcPct val="107000"/>
                        </a:lnSpc>
                        <a:spcBef>
                          <a:spcPts val="0"/>
                        </a:spcBef>
                        <a:spcAft>
                          <a:spcPts val="800"/>
                        </a:spcAft>
                      </a:pPr>
                      <a:r>
                        <a:rPr lang="en-GB" sz="1200" dirty="0">
                          <a:effectLst/>
                        </a:rPr>
                        <a:t>DBSCAN PCA</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0.34334</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692.4556</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564473996"/>
                  </a:ext>
                </a:extLst>
              </a:tr>
              <a:tr h="396921">
                <a:tc>
                  <a:txBody>
                    <a:bodyPr/>
                    <a:lstStyle/>
                    <a:p>
                      <a:pPr marL="0" marR="0" algn="l">
                        <a:lnSpc>
                          <a:spcPct val="107000"/>
                        </a:lnSpc>
                        <a:spcBef>
                          <a:spcPts val="0"/>
                        </a:spcBef>
                        <a:spcAft>
                          <a:spcPts val="800"/>
                        </a:spcAft>
                      </a:pPr>
                      <a:r>
                        <a:rPr lang="en-GB" sz="1200">
                          <a:effectLst/>
                        </a:rPr>
                        <a:t>Hierarchical</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0.255103</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978.564782</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975430766"/>
                  </a:ext>
                </a:extLst>
              </a:tr>
              <a:tr h="396921">
                <a:tc>
                  <a:txBody>
                    <a:bodyPr/>
                    <a:lstStyle/>
                    <a:p>
                      <a:pPr marL="0" marR="0" algn="l">
                        <a:lnSpc>
                          <a:spcPct val="107000"/>
                        </a:lnSpc>
                        <a:spcBef>
                          <a:spcPts val="0"/>
                        </a:spcBef>
                        <a:spcAft>
                          <a:spcPts val="800"/>
                        </a:spcAft>
                      </a:pPr>
                      <a:r>
                        <a:rPr lang="en-GB" sz="1200" dirty="0">
                          <a:effectLst/>
                        </a:rPr>
                        <a:t>Hierarchical with PCA</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a:effectLst/>
                        </a:rPr>
                        <a:t>0.4253</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l">
                        <a:lnSpc>
                          <a:spcPct val="107000"/>
                        </a:lnSpc>
                        <a:spcBef>
                          <a:spcPts val="0"/>
                        </a:spcBef>
                        <a:spcAft>
                          <a:spcPts val="800"/>
                        </a:spcAft>
                      </a:pPr>
                      <a:r>
                        <a:rPr lang="en-GB" sz="1200" dirty="0">
                          <a:effectLst/>
                        </a:rPr>
                        <a:t>1680.6086</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81739083"/>
                  </a:ext>
                </a:extLst>
              </a:tr>
            </a:tbl>
          </a:graphicData>
        </a:graphic>
      </p:graphicFrame>
      <p:cxnSp>
        <p:nvCxnSpPr>
          <p:cNvPr id="13" name="Straight Connector 12">
            <a:extLst>
              <a:ext uri="{FF2B5EF4-FFF2-40B4-BE49-F238E27FC236}">
                <a16:creationId xmlns:a16="http://schemas.microsoft.com/office/drawing/2014/main" id="{2F5E72B2-7BEF-BBD3-FFA4-6C54B8AA09DF}"/>
              </a:ext>
            </a:extLst>
          </p:cNvPr>
          <p:cNvCxnSpPr>
            <a:cxnSpLocks/>
          </p:cNvCxnSpPr>
          <p:nvPr/>
        </p:nvCxnSpPr>
        <p:spPr>
          <a:xfrm>
            <a:off x="6125247" y="1107230"/>
            <a:ext cx="0" cy="5365008"/>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15" name="TextBox 14">
            <a:extLst>
              <a:ext uri="{FF2B5EF4-FFF2-40B4-BE49-F238E27FC236}">
                <a16:creationId xmlns:a16="http://schemas.microsoft.com/office/drawing/2014/main" id="{9F8CC2EF-F898-06A5-C7C2-8F46D11532B3}"/>
              </a:ext>
            </a:extLst>
          </p:cNvPr>
          <p:cNvSpPr txBox="1"/>
          <p:nvPr/>
        </p:nvSpPr>
        <p:spPr>
          <a:xfrm>
            <a:off x="1328738" y="1107230"/>
            <a:ext cx="4114800" cy="369332"/>
          </a:xfrm>
          <a:prstGeom prst="rect">
            <a:avLst/>
          </a:prstGeom>
          <a:noFill/>
        </p:spPr>
        <p:txBody>
          <a:bodyPr wrap="square" rtlCol="0">
            <a:spAutoFit/>
          </a:bodyPr>
          <a:lstStyle/>
          <a:p>
            <a:r>
              <a:rPr lang="en-GB" dirty="0">
                <a:ln w="0"/>
                <a:effectLst>
                  <a:outerShdw blurRad="38100" dist="19050" dir="2700000" algn="tl" rotWithShape="0">
                    <a:schemeClr val="dk1">
                      <a:alpha val="40000"/>
                    </a:schemeClr>
                  </a:outerShdw>
                </a:effectLst>
              </a:rPr>
              <a:t>Existing Papers</a:t>
            </a:r>
            <a:endParaRPr lang="en-US" dirty="0">
              <a:ln w="0"/>
              <a:effectLst>
                <a:outerShdw blurRad="38100" dist="19050" dir="2700000" algn="tl" rotWithShape="0">
                  <a:schemeClr val="dk1">
                    <a:alpha val="40000"/>
                  </a:schemeClr>
                </a:outerShdw>
              </a:effectLst>
            </a:endParaRPr>
          </a:p>
        </p:txBody>
      </p:sp>
      <p:sp>
        <p:nvSpPr>
          <p:cNvPr id="16" name="TextBox 15">
            <a:extLst>
              <a:ext uri="{FF2B5EF4-FFF2-40B4-BE49-F238E27FC236}">
                <a16:creationId xmlns:a16="http://schemas.microsoft.com/office/drawing/2014/main" id="{8B2D8C56-47CE-4C39-8C2B-35896D34A77D}"/>
              </a:ext>
            </a:extLst>
          </p:cNvPr>
          <p:cNvSpPr txBox="1"/>
          <p:nvPr/>
        </p:nvSpPr>
        <p:spPr>
          <a:xfrm>
            <a:off x="6415088" y="1080803"/>
            <a:ext cx="4114800" cy="400110"/>
          </a:xfrm>
          <a:prstGeom prst="rect">
            <a:avLst/>
          </a:prstGeom>
          <a:noFill/>
        </p:spPr>
        <p:txBody>
          <a:bodyPr wrap="square" rtlCol="0">
            <a:spAutoFit/>
          </a:bodyPr>
          <a:lstStyle/>
          <a:p>
            <a:r>
              <a:rPr lang="en-GB" sz="2000" dirty="0">
                <a:ln w="0"/>
                <a:effectLst>
                  <a:outerShdw blurRad="38100" dist="19050" dir="2700000" algn="tl" rotWithShape="0">
                    <a:schemeClr val="dk1">
                      <a:alpha val="40000"/>
                    </a:schemeClr>
                  </a:outerShdw>
                </a:effectLst>
              </a:rPr>
              <a:t>Study results</a:t>
            </a:r>
            <a:endParaRPr lang="en-US" sz="20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622995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8E447EE-981F-3445-AAD4-44D479B9FA6B}"/>
              </a:ext>
            </a:extLst>
          </p:cNvPr>
          <p:cNvSpPr/>
          <p:nvPr/>
        </p:nvSpPr>
        <p:spPr>
          <a:xfrm rot="16926037">
            <a:off x="1806675" y="4346417"/>
            <a:ext cx="1060836" cy="5022514"/>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4">
            <a:extLst>
              <a:ext uri="{FF2B5EF4-FFF2-40B4-BE49-F238E27FC236}">
                <a16:creationId xmlns:a16="http://schemas.microsoft.com/office/drawing/2014/main" id="{C5D2130E-3E3C-2848-BE03-E4BF7B6D4FC1}"/>
              </a:ext>
            </a:extLst>
          </p:cNvPr>
          <p:cNvSpPr/>
          <p:nvPr/>
        </p:nvSpPr>
        <p:spPr>
          <a:xfrm rot="11529462">
            <a:off x="11920736" y="4342955"/>
            <a:ext cx="543464" cy="2620456"/>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rgbClr val="EA5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021C72E9-4FFD-F642-9292-087C1D4DF696}"/>
              </a:ext>
            </a:extLst>
          </p:cNvPr>
          <p:cNvSpPr txBox="1">
            <a:spLocks/>
          </p:cNvSpPr>
          <p:nvPr/>
        </p:nvSpPr>
        <p:spPr>
          <a:xfrm>
            <a:off x="1727905" y="344067"/>
            <a:ext cx="5924179" cy="688009"/>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E30A0A"/>
                </a:solidFill>
                <a:latin typeface="Arial" panose="020B0604020202020204" pitchFamily="34" charset="0"/>
                <a:cs typeface="Arial" panose="020B0604020202020204" pitchFamily="34" charset="0"/>
              </a:rPr>
              <a:t>DISCUSSION</a:t>
            </a:r>
            <a:endParaRPr lang="en-US" sz="3200" b="1" dirty="0">
              <a:solidFill>
                <a:srgbClr val="E30A0A"/>
              </a:solidFill>
              <a:latin typeface="Arial" panose="020B0604020202020204" pitchFamily="34" charset="0"/>
              <a:cs typeface="Arial" panose="020B0604020202020204" pitchFamily="34" charset="0"/>
            </a:endParaRPr>
          </a:p>
        </p:txBody>
      </p:sp>
      <p:sp>
        <p:nvSpPr>
          <p:cNvPr id="7" name="Right Arrow 6"/>
          <p:cNvSpPr/>
          <p:nvPr/>
        </p:nvSpPr>
        <p:spPr>
          <a:xfrm>
            <a:off x="707356" y="238851"/>
            <a:ext cx="775667" cy="616900"/>
          </a:xfrm>
          <a:prstGeom prst="rightArrow">
            <a:avLst/>
          </a:pr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University of Sunderland - Wikipedia">
            <a:extLst>
              <a:ext uri="{FF2B5EF4-FFF2-40B4-BE49-F238E27FC236}">
                <a16:creationId xmlns:a16="http://schemas.microsoft.com/office/drawing/2014/main" id="{7F7D40EC-6B33-6248-FF9C-830755AACC3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77497" y="60049"/>
            <a:ext cx="2345795" cy="86457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8879B19-B8A3-13D0-6C17-5AA8DAB8D53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0" name="Rectangle: Rounded Corners 9">
            <a:extLst>
              <a:ext uri="{FF2B5EF4-FFF2-40B4-BE49-F238E27FC236}">
                <a16:creationId xmlns:a16="http://schemas.microsoft.com/office/drawing/2014/main" id="{1F729A8E-6C3B-6BC7-2B20-D94110B4A919}"/>
              </a:ext>
            </a:extLst>
          </p:cNvPr>
          <p:cNvSpPr/>
          <p:nvPr/>
        </p:nvSpPr>
        <p:spPr>
          <a:xfrm>
            <a:off x="1250532" y="1097184"/>
            <a:ext cx="4894286" cy="282670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12" name="Oval 11">
            <a:extLst>
              <a:ext uri="{FF2B5EF4-FFF2-40B4-BE49-F238E27FC236}">
                <a16:creationId xmlns:a16="http://schemas.microsoft.com/office/drawing/2014/main" id="{84C31D48-BB05-6E49-5764-5D7DC1A8512E}"/>
              </a:ext>
            </a:extLst>
          </p:cNvPr>
          <p:cNvSpPr/>
          <p:nvPr/>
        </p:nvSpPr>
        <p:spPr>
          <a:xfrm>
            <a:off x="489150" y="948323"/>
            <a:ext cx="990600" cy="104139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dirty="0"/>
          </a:p>
        </p:txBody>
      </p:sp>
      <p:sp>
        <p:nvSpPr>
          <p:cNvPr id="13" name="TextBox 12">
            <a:extLst>
              <a:ext uri="{FF2B5EF4-FFF2-40B4-BE49-F238E27FC236}">
                <a16:creationId xmlns:a16="http://schemas.microsoft.com/office/drawing/2014/main" id="{0AD8EECF-7DE9-6F2B-EC56-5189211DE772}"/>
              </a:ext>
            </a:extLst>
          </p:cNvPr>
          <p:cNvSpPr txBox="1"/>
          <p:nvPr/>
        </p:nvSpPr>
        <p:spPr>
          <a:xfrm>
            <a:off x="1435857" y="1094445"/>
            <a:ext cx="4728627" cy="27354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450" b="1" dirty="0"/>
              <a:t>Conducted literature review on autoencoders and customer segmentation.</a:t>
            </a:r>
          </a:p>
          <a:p>
            <a:pPr marL="285750" indent="-285750">
              <a:lnSpc>
                <a:spcPct val="150000"/>
              </a:lnSpc>
              <a:buFont typeface="Arial" panose="020B0604020202020204" pitchFamily="34" charset="0"/>
              <a:buChar char="•"/>
            </a:pPr>
            <a:r>
              <a:rPr lang="en-GB" sz="1450" b="1" dirty="0"/>
              <a:t>Identified key factors affecting autoencoder performance: Model architecture, activation functions, Hyperparameters, Regularization techniques, Training strategies, Data preprocessing and augmentation</a:t>
            </a:r>
          </a:p>
          <a:p>
            <a:pPr marL="285750" indent="-285750">
              <a:lnSpc>
                <a:spcPct val="150000"/>
              </a:lnSpc>
              <a:buFont typeface="Arial" panose="020B0604020202020204" pitchFamily="34" charset="0"/>
              <a:buChar char="•"/>
            </a:pPr>
            <a:r>
              <a:rPr lang="en-GB" sz="1450" b="1" dirty="0"/>
              <a:t>Informed the development of base autoencoder and VAE models.</a:t>
            </a:r>
          </a:p>
        </p:txBody>
      </p:sp>
      <p:sp>
        <p:nvSpPr>
          <p:cNvPr id="14" name="Rectangle: Rounded Corners 13">
            <a:extLst>
              <a:ext uri="{FF2B5EF4-FFF2-40B4-BE49-F238E27FC236}">
                <a16:creationId xmlns:a16="http://schemas.microsoft.com/office/drawing/2014/main" id="{73586C82-1FE7-C62A-6019-8F63F5C95A3F}"/>
              </a:ext>
            </a:extLst>
          </p:cNvPr>
          <p:cNvSpPr/>
          <p:nvPr/>
        </p:nvSpPr>
        <p:spPr>
          <a:xfrm>
            <a:off x="6552957" y="1002765"/>
            <a:ext cx="4388512" cy="241366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16" name="TextBox 15">
            <a:extLst>
              <a:ext uri="{FF2B5EF4-FFF2-40B4-BE49-F238E27FC236}">
                <a16:creationId xmlns:a16="http://schemas.microsoft.com/office/drawing/2014/main" id="{91722967-6A42-7F64-1012-93EAAC8F1691}"/>
              </a:ext>
            </a:extLst>
          </p:cNvPr>
          <p:cNvSpPr txBox="1"/>
          <p:nvPr/>
        </p:nvSpPr>
        <p:spPr>
          <a:xfrm>
            <a:off x="6771075" y="1047743"/>
            <a:ext cx="3996808" cy="2446824"/>
          </a:xfrm>
          <a:prstGeom prst="rect">
            <a:avLst/>
          </a:prstGeom>
          <a:noFill/>
        </p:spPr>
        <p:txBody>
          <a:bodyPr wrap="square" rtlCol="0">
            <a:spAutoFit/>
          </a:bodyPr>
          <a:lstStyle/>
          <a:p>
            <a:pPr marL="285750" indent="-285750">
              <a:buFont typeface="Arial" panose="020B0604020202020204" pitchFamily="34" charset="0"/>
              <a:buChar char="•"/>
            </a:pPr>
            <a:r>
              <a:rPr lang="en-GB" sz="1700" b="1" dirty="0"/>
              <a:t>Implemented and evaluated autoencoder and VAE models using customer data.</a:t>
            </a:r>
          </a:p>
          <a:p>
            <a:pPr marL="285750" indent="-285750">
              <a:buFont typeface="Arial" panose="020B0604020202020204" pitchFamily="34" charset="0"/>
              <a:buChar char="•"/>
            </a:pPr>
            <a:r>
              <a:rPr lang="en-GB" sz="1700" b="1" dirty="0"/>
              <a:t>Used silhouette scores and Calinski-</a:t>
            </a:r>
            <a:r>
              <a:rPr lang="en-GB" sz="1700" b="1" dirty="0" err="1"/>
              <a:t>Harabasz</a:t>
            </a:r>
            <a:r>
              <a:rPr lang="en-GB" sz="1700" b="1" dirty="0"/>
              <a:t> index for performance assessment.</a:t>
            </a:r>
          </a:p>
          <a:p>
            <a:pPr marL="285750" indent="-285750">
              <a:buFont typeface="Arial" panose="020B0604020202020204" pitchFamily="34" charset="0"/>
              <a:buChar char="•"/>
            </a:pPr>
            <a:r>
              <a:rPr lang="en-GB" sz="1700" b="1" dirty="0"/>
              <a:t>Found that base autoencoder outperformed VAE in customer segmentation tasks.</a:t>
            </a:r>
          </a:p>
        </p:txBody>
      </p:sp>
      <p:sp>
        <p:nvSpPr>
          <p:cNvPr id="17" name="Rectangle: Rounded Corners 16">
            <a:extLst>
              <a:ext uri="{FF2B5EF4-FFF2-40B4-BE49-F238E27FC236}">
                <a16:creationId xmlns:a16="http://schemas.microsoft.com/office/drawing/2014/main" id="{D0771520-2B42-4DC2-A083-46373CCD4CC8}"/>
              </a:ext>
            </a:extLst>
          </p:cNvPr>
          <p:cNvSpPr/>
          <p:nvPr/>
        </p:nvSpPr>
        <p:spPr>
          <a:xfrm>
            <a:off x="6443790" y="3706744"/>
            <a:ext cx="4778048" cy="279946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18" name="Oval 17">
            <a:extLst>
              <a:ext uri="{FF2B5EF4-FFF2-40B4-BE49-F238E27FC236}">
                <a16:creationId xmlns:a16="http://schemas.microsoft.com/office/drawing/2014/main" id="{5C922D7B-19AD-AB27-4AAE-71C2DD2057C9}"/>
              </a:ext>
            </a:extLst>
          </p:cNvPr>
          <p:cNvSpPr/>
          <p:nvPr/>
        </p:nvSpPr>
        <p:spPr>
          <a:xfrm>
            <a:off x="10987760" y="3511256"/>
            <a:ext cx="990600" cy="104139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9" name="TextBox 18">
            <a:extLst>
              <a:ext uri="{FF2B5EF4-FFF2-40B4-BE49-F238E27FC236}">
                <a16:creationId xmlns:a16="http://schemas.microsoft.com/office/drawing/2014/main" id="{8480E117-0E47-CD2C-CF92-5BC09F9997D2}"/>
              </a:ext>
            </a:extLst>
          </p:cNvPr>
          <p:cNvSpPr txBox="1"/>
          <p:nvPr/>
        </p:nvSpPr>
        <p:spPr>
          <a:xfrm>
            <a:off x="6694035" y="3768420"/>
            <a:ext cx="4587292" cy="2708434"/>
          </a:xfrm>
          <a:prstGeom prst="rect">
            <a:avLst/>
          </a:prstGeom>
          <a:noFill/>
        </p:spPr>
        <p:txBody>
          <a:bodyPr wrap="square" rtlCol="0">
            <a:spAutoFit/>
          </a:bodyPr>
          <a:lstStyle/>
          <a:p>
            <a:pPr marL="285750" indent="-285750">
              <a:buFont typeface="Arial" panose="020B0604020202020204" pitchFamily="34" charset="0"/>
              <a:buChar char="•"/>
            </a:pPr>
            <a:r>
              <a:rPr lang="en-US" sz="1700" b="1" dirty="0"/>
              <a:t>Compared autoencoder models (with and without PCA) to traditional clustering methods (K-means, DBSCAN, hierarchical clustering).</a:t>
            </a:r>
          </a:p>
          <a:p>
            <a:pPr marL="285750" indent="-285750">
              <a:buFont typeface="Arial" panose="020B0604020202020204" pitchFamily="34" charset="0"/>
              <a:buChar char="•"/>
            </a:pPr>
            <a:r>
              <a:rPr lang="en-US" sz="1700" b="1" dirty="0"/>
              <a:t>Autoencoder with PCA outperformed all other methods in cluster quality and separation.</a:t>
            </a:r>
          </a:p>
          <a:p>
            <a:pPr marL="285750" indent="-285750">
              <a:buFont typeface="Arial" panose="020B0604020202020204" pitchFamily="34" charset="0"/>
              <a:buChar char="•"/>
            </a:pPr>
            <a:r>
              <a:rPr lang="en-US" sz="1700" b="1" dirty="0"/>
              <a:t>Provided actionable recommendations for businesses on using advanced segmentation techniques.</a:t>
            </a:r>
            <a:endParaRPr lang="en-GB" sz="1700" b="1" dirty="0"/>
          </a:p>
        </p:txBody>
      </p:sp>
      <p:sp>
        <p:nvSpPr>
          <p:cNvPr id="20" name="TextBox 19">
            <a:extLst>
              <a:ext uri="{FF2B5EF4-FFF2-40B4-BE49-F238E27FC236}">
                <a16:creationId xmlns:a16="http://schemas.microsoft.com/office/drawing/2014/main" id="{9DB67941-CE54-8C5B-40E3-24636D24D144}"/>
              </a:ext>
            </a:extLst>
          </p:cNvPr>
          <p:cNvSpPr txBox="1"/>
          <p:nvPr/>
        </p:nvSpPr>
        <p:spPr>
          <a:xfrm>
            <a:off x="628441" y="1166840"/>
            <a:ext cx="939800" cy="461665"/>
          </a:xfrm>
          <a:prstGeom prst="rect">
            <a:avLst/>
          </a:prstGeom>
          <a:noFill/>
        </p:spPr>
        <p:txBody>
          <a:bodyPr wrap="square" rtlCol="0">
            <a:spAutoFit/>
          </a:bodyPr>
          <a:lstStyle/>
          <a:p>
            <a:r>
              <a:rPr lang="en-GB" sz="2400" dirty="0"/>
              <a:t>OBJ 1</a:t>
            </a:r>
          </a:p>
        </p:txBody>
      </p:sp>
      <p:sp>
        <p:nvSpPr>
          <p:cNvPr id="22" name="TextBox 21">
            <a:extLst>
              <a:ext uri="{FF2B5EF4-FFF2-40B4-BE49-F238E27FC236}">
                <a16:creationId xmlns:a16="http://schemas.microsoft.com/office/drawing/2014/main" id="{3975F9CA-B1BA-7E94-A7FD-AFA62D7BC4FD}"/>
              </a:ext>
            </a:extLst>
          </p:cNvPr>
          <p:cNvSpPr txBox="1"/>
          <p:nvPr/>
        </p:nvSpPr>
        <p:spPr>
          <a:xfrm>
            <a:off x="11068082" y="3737657"/>
            <a:ext cx="973418" cy="461665"/>
          </a:xfrm>
          <a:prstGeom prst="rect">
            <a:avLst/>
          </a:prstGeom>
          <a:noFill/>
        </p:spPr>
        <p:txBody>
          <a:bodyPr wrap="square" rtlCol="0">
            <a:spAutoFit/>
          </a:bodyPr>
          <a:lstStyle/>
          <a:p>
            <a:r>
              <a:rPr lang="en-GB" sz="2400" dirty="0"/>
              <a:t>OBJ 4</a:t>
            </a:r>
          </a:p>
        </p:txBody>
      </p:sp>
      <p:sp>
        <p:nvSpPr>
          <p:cNvPr id="23" name="Rectangle: Rounded Corners 22">
            <a:extLst>
              <a:ext uri="{FF2B5EF4-FFF2-40B4-BE49-F238E27FC236}">
                <a16:creationId xmlns:a16="http://schemas.microsoft.com/office/drawing/2014/main" id="{9D55FC86-EA45-5FCD-E414-12DC3B21BB1A}"/>
              </a:ext>
            </a:extLst>
          </p:cNvPr>
          <p:cNvSpPr/>
          <p:nvPr/>
        </p:nvSpPr>
        <p:spPr>
          <a:xfrm>
            <a:off x="1250532" y="4043009"/>
            <a:ext cx="4912176" cy="209013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24" name="TextBox 23">
            <a:extLst>
              <a:ext uri="{FF2B5EF4-FFF2-40B4-BE49-F238E27FC236}">
                <a16:creationId xmlns:a16="http://schemas.microsoft.com/office/drawing/2014/main" id="{A5FA124F-45DA-E754-D811-D335E730ADC3}"/>
              </a:ext>
            </a:extLst>
          </p:cNvPr>
          <p:cNvSpPr txBox="1"/>
          <p:nvPr/>
        </p:nvSpPr>
        <p:spPr>
          <a:xfrm>
            <a:off x="1401670" y="4138686"/>
            <a:ext cx="4694330" cy="1923604"/>
          </a:xfrm>
          <a:prstGeom prst="rect">
            <a:avLst/>
          </a:prstGeom>
          <a:noFill/>
        </p:spPr>
        <p:txBody>
          <a:bodyPr wrap="square" rtlCol="0">
            <a:spAutoFit/>
          </a:bodyPr>
          <a:lstStyle/>
          <a:p>
            <a:pPr marL="285750" indent="-285750">
              <a:buFont typeface="Arial" panose="020B0604020202020204" pitchFamily="34" charset="0"/>
              <a:buChar char="•"/>
            </a:pPr>
            <a:r>
              <a:rPr lang="en-US" sz="1700" b="1" dirty="0"/>
              <a:t>Applied PCA to encoded data from autoencoder and VAE models.</a:t>
            </a:r>
          </a:p>
          <a:p>
            <a:pPr marL="285750" indent="-285750">
              <a:buFont typeface="Arial" panose="020B0604020202020204" pitchFamily="34" charset="0"/>
              <a:buChar char="•"/>
            </a:pPr>
            <a:r>
              <a:rPr lang="en-US" sz="1700" b="1" dirty="0"/>
              <a:t>Improved clustering performance with higher silhouette scores and Calinski-Harabasz index.</a:t>
            </a:r>
          </a:p>
          <a:p>
            <a:pPr marL="285750" indent="-285750">
              <a:buFont typeface="Arial" panose="020B0604020202020204" pitchFamily="34" charset="0"/>
              <a:buChar char="•"/>
            </a:pPr>
            <a:r>
              <a:rPr lang="en-US" sz="1700" b="1" dirty="0"/>
              <a:t>Highlighted the effectiveness of c   </a:t>
            </a:r>
            <a:r>
              <a:rPr lang="en-US" sz="1700" b="1" dirty="0" err="1"/>
              <a:t>ombining</a:t>
            </a:r>
            <a:r>
              <a:rPr lang="en-US" sz="1700" b="1" dirty="0"/>
              <a:t> PCA with autoencoders for better customer segmentation.</a:t>
            </a:r>
            <a:endParaRPr lang="en-GB" sz="1700" b="1" dirty="0"/>
          </a:p>
        </p:txBody>
      </p:sp>
      <p:sp>
        <p:nvSpPr>
          <p:cNvPr id="25" name="Oval 24">
            <a:extLst>
              <a:ext uri="{FF2B5EF4-FFF2-40B4-BE49-F238E27FC236}">
                <a16:creationId xmlns:a16="http://schemas.microsoft.com/office/drawing/2014/main" id="{2CEC791A-29BC-16F0-FDB9-48CE8271CE40}"/>
              </a:ext>
            </a:extLst>
          </p:cNvPr>
          <p:cNvSpPr/>
          <p:nvPr/>
        </p:nvSpPr>
        <p:spPr>
          <a:xfrm>
            <a:off x="348832" y="3923889"/>
            <a:ext cx="990600" cy="104139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6" name="TextBox 25">
            <a:extLst>
              <a:ext uri="{FF2B5EF4-FFF2-40B4-BE49-F238E27FC236}">
                <a16:creationId xmlns:a16="http://schemas.microsoft.com/office/drawing/2014/main" id="{E5DD4D3D-1A1D-8A00-2BB1-63FEEE866679}"/>
              </a:ext>
            </a:extLst>
          </p:cNvPr>
          <p:cNvSpPr txBox="1"/>
          <p:nvPr/>
        </p:nvSpPr>
        <p:spPr>
          <a:xfrm>
            <a:off x="304382" y="4215370"/>
            <a:ext cx="946150" cy="461665"/>
          </a:xfrm>
          <a:prstGeom prst="rect">
            <a:avLst/>
          </a:prstGeom>
          <a:noFill/>
        </p:spPr>
        <p:txBody>
          <a:bodyPr wrap="square" rtlCol="0">
            <a:spAutoFit/>
          </a:bodyPr>
          <a:lstStyle/>
          <a:p>
            <a:r>
              <a:rPr lang="en-GB" sz="2400" dirty="0"/>
              <a:t>OBJ 3</a:t>
            </a:r>
          </a:p>
        </p:txBody>
      </p:sp>
      <p:sp>
        <p:nvSpPr>
          <p:cNvPr id="28" name="Oval 27">
            <a:extLst>
              <a:ext uri="{FF2B5EF4-FFF2-40B4-BE49-F238E27FC236}">
                <a16:creationId xmlns:a16="http://schemas.microsoft.com/office/drawing/2014/main" id="{B0A75F1B-F035-A124-685F-7B3DFA98B119}"/>
              </a:ext>
            </a:extLst>
          </p:cNvPr>
          <p:cNvSpPr/>
          <p:nvPr/>
        </p:nvSpPr>
        <p:spPr>
          <a:xfrm>
            <a:off x="10660292" y="957187"/>
            <a:ext cx="990600" cy="104139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9" name="TextBox 28">
            <a:extLst>
              <a:ext uri="{FF2B5EF4-FFF2-40B4-BE49-F238E27FC236}">
                <a16:creationId xmlns:a16="http://schemas.microsoft.com/office/drawing/2014/main" id="{302E985E-161A-A8B4-C884-D9C12B471F26}"/>
              </a:ext>
            </a:extLst>
          </p:cNvPr>
          <p:cNvSpPr txBox="1"/>
          <p:nvPr/>
        </p:nvSpPr>
        <p:spPr>
          <a:xfrm>
            <a:off x="10666925" y="1121948"/>
            <a:ext cx="893109" cy="461665"/>
          </a:xfrm>
          <a:prstGeom prst="rect">
            <a:avLst/>
          </a:prstGeom>
          <a:noFill/>
        </p:spPr>
        <p:txBody>
          <a:bodyPr wrap="square" rtlCol="0">
            <a:spAutoFit/>
          </a:bodyPr>
          <a:lstStyle/>
          <a:p>
            <a:r>
              <a:rPr lang="en-GB" sz="2400" dirty="0"/>
              <a:t>OBJ 2</a:t>
            </a:r>
          </a:p>
        </p:txBody>
      </p:sp>
    </p:spTree>
    <p:extLst>
      <p:ext uri="{BB962C8B-B14F-4D97-AF65-F5344CB8AC3E}">
        <p14:creationId xmlns:p14="http://schemas.microsoft.com/office/powerpoint/2010/main" val="2148128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a:extLst>
              <a:ext uri="{FF2B5EF4-FFF2-40B4-BE49-F238E27FC236}">
                <a16:creationId xmlns:a16="http://schemas.microsoft.com/office/drawing/2014/main" id="{C5D2130E-3E3C-2848-BE03-E4BF7B6D4FC1}"/>
              </a:ext>
            </a:extLst>
          </p:cNvPr>
          <p:cNvSpPr/>
          <p:nvPr/>
        </p:nvSpPr>
        <p:spPr>
          <a:xfrm rot="11529462">
            <a:off x="11920736" y="4342955"/>
            <a:ext cx="543464" cy="2620456"/>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rgbClr val="EE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5564" t="13450" r="8052" b="4535"/>
          <a:stretch/>
        </p:blipFill>
        <p:spPr>
          <a:xfrm>
            <a:off x="8777754" y="1828800"/>
            <a:ext cx="3414714" cy="2157413"/>
          </a:xfrm>
          <a:prstGeom prst="rect">
            <a:avLst/>
          </a:prstGeom>
        </p:spPr>
      </p:pic>
      <p:sp>
        <p:nvSpPr>
          <p:cNvPr id="6" name="TextBox 5"/>
          <p:cNvSpPr txBox="1"/>
          <p:nvPr/>
        </p:nvSpPr>
        <p:spPr>
          <a:xfrm>
            <a:off x="258452" y="292646"/>
            <a:ext cx="8519301" cy="5958682"/>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q"/>
            </a:pPr>
            <a:r>
              <a:rPr lang="en-US" sz="2000" b="1" dirty="0"/>
              <a:t>Limitation</a:t>
            </a:r>
          </a:p>
          <a:p>
            <a:pPr marL="285750" indent="-285750" algn="just">
              <a:lnSpc>
                <a:spcPct val="150000"/>
              </a:lnSpc>
              <a:buClr>
                <a:srgbClr val="C00000"/>
              </a:buClr>
              <a:buFont typeface="Wingdings" panose="05000000000000000000" pitchFamily="2" charset="2"/>
              <a:buChar char="ü"/>
            </a:pPr>
            <a:r>
              <a:rPr lang="en-US" dirty="0"/>
              <a:t>Dataset and Generalization Constraints: The study relied on a single Kaggle dataset, limiting generalizability across different customer segments, industries, and unseen data.</a:t>
            </a:r>
          </a:p>
          <a:p>
            <a:pPr marL="285750" indent="-285750" algn="just">
              <a:lnSpc>
                <a:spcPct val="150000"/>
              </a:lnSpc>
              <a:buClr>
                <a:srgbClr val="C00000"/>
              </a:buClr>
              <a:buFont typeface="Wingdings" panose="05000000000000000000" pitchFamily="2" charset="2"/>
              <a:buChar char="ü"/>
            </a:pPr>
            <a:r>
              <a:rPr lang="en-US" dirty="0"/>
              <a:t>Practical and Optimization Challenges: The models' real-time performance and interpretability were not assessed, and exhaustive hyperparameter optimization was constrained by computational and time limits</a:t>
            </a:r>
            <a:r>
              <a:rPr lang="en-GB" dirty="0"/>
              <a:t>.	</a:t>
            </a:r>
          </a:p>
          <a:p>
            <a:pPr algn="just">
              <a:lnSpc>
                <a:spcPct val="150000"/>
              </a:lnSpc>
              <a:buClr>
                <a:srgbClr val="C00000"/>
              </a:buClr>
            </a:pPr>
            <a:endParaRPr lang="en-GB" dirty="0"/>
          </a:p>
          <a:p>
            <a:pPr algn="just">
              <a:lnSpc>
                <a:spcPct val="150000"/>
              </a:lnSpc>
              <a:buClr>
                <a:srgbClr val="C00000"/>
              </a:buClr>
            </a:pPr>
            <a:endParaRPr lang="en-US" dirty="0"/>
          </a:p>
          <a:p>
            <a:pPr marL="285750" indent="-285750" algn="just">
              <a:lnSpc>
                <a:spcPct val="150000"/>
              </a:lnSpc>
              <a:buClr>
                <a:srgbClr val="C00000"/>
              </a:buClr>
              <a:buFont typeface="Wingdings" panose="05000000000000000000" pitchFamily="2" charset="2"/>
              <a:buChar char="q"/>
            </a:pPr>
            <a:r>
              <a:rPr lang="en-US" sz="2000" b="1" dirty="0"/>
              <a:t>Future Research</a:t>
            </a:r>
          </a:p>
          <a:p>
            <a:pPr marL="285750" indent="-285750" algn="just">
              <a:lnSpc>
                <a:spcPct val="150000"/>
              </a:lnSpc>
              <a:buClr>
                <a:srgbClr val="C00000"/>
              </a:buClr>
              <a:buFont typeface="Wingdings" panose="05000000000000000000" pitchFamily="2" charset="2"/>
              <a:buChar char="ü"/>
            </a:pPr>
            <a:r>
              <a:rPr lang="en-GB" sz="1800" dirty="0">
                <a:effectLst/>
                <a:latin typeface="Times New Roman" panose="02020603050405020304" pitchFamily="18" charset="0"/>
                <a:ea typeface="Times New Roman" panose="02020603050405020304" pitchFamily="18" charset="0"/>
              </a:rPr>
              <a:t>Investigating the application of transformer models, such as BERT, Gemma, Llama 3 and GPT, for customer segmentation could also yield valuable insights.</a:t>
            </a:r>
            <a:endParaRPr lang="en-US" sz="1800" dirty="0">
              <a:effectLst/>
              <a:latin typeface="Times New Roman" panose="02020603050405020304" pitchFamily="18" charset="0"/>
              <a:ea typeface="Times New Roman" panose="02020603050405020304" pitchFamily="18" charset="0"/>
            </a:endParaRPr>
          </a:p>
          <a:p>
            <a:pPr marL="285750" indent="-285750" algn="just">
              <a:lnSpc>
                <a:spcPct val="150000"/>
              </a:lnSpc>
              <a:buClr>
                <a:srgbClr val="C00000"/>
              </a:buClr>
              <a:buFont typeface="Wingdings" panose="05000000000000000000" pitchFamily="2" charset="2"/>
              <a:buChar char="ü"/>
            </a:pPr>
            <a:r>
              <a:rPr lang="en-GB" dirty="0"/>
              <a:t>Utilise</a:t>
            </a:r>
            <a:r>
              <a:rPr lang="en-US" dirty="0"/>
              <a:t> the finding to create real time application using the </a:t>
            </a:r>
            <a:r>
              <a:rPr lang="en-GB" dirty="0"/>
              <a:t>Ensemble methods for supervised classification and customer profiling.</a:t>
            </a:r>
            <a:endParaRPr lang="en-US" dirty="0"/>
          </a:p>
        </p:txBody>
      </p:sp>
      <p:pic>
        <p:nvPicPr>
          <p:cNvPr id="2" name="Picture 2" descr="University of Sunderland - Wikipedia">
            <a:extLst>
              <a:ext uri="{FF2B5EF4-FFF2-40B4-BE49-F238E27FC236}">
                <a16:creationId xmlns:a16="http://schemas.microsoft.com/office/drawing/2014/main" id="{7C053A87-2503-E703-414A-A47006BB4A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33964" y="128619"/>
            <a:ext cx="2399583" cy="1121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5481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8E447EE-981F-3445-AAD4-44D479B9FA6B}"/>
              </a:ext>
            </a:extLst>
          </p:cNvPr>
          <p:cNvSpPr/>
          <p:nvPr/>
        </p:nvSpPr>
        <p:spPr>
          <a:xfrm rot="16926037">
            <a:off x="1806675" y="4346417"/>
            <a:ext cx="1060836" cy="5022514"/>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4">
            <a:extLst>
              <a:ext uri="{FF2B5EF4-FFF2-40B4-BE49-F238E27FC236}">
                <a16:creationId xmlns:a16="http://schemas.microsoft.com/office/drawing/2014/main" id="{C5D2130E-3E3C-2848-BE03-E4BF7B6D4FC1}"/>
              </a:ext>
            </a:extLst>
          </p:cNvPr>
          <p:cNvSpPr/>
          <p:nvPr/>
        </p:nvSpPr>
        <p:spPr>
          <a:xfrm rot="11529462">
            <a:off x="11920736" y="4342955"/>
            <a:ext cx="543464" cy="2620456"/>
          </a:xfrm>
          <a:custGeom>
            <a:avLst/>
            <a:gdLst>
              <a:gd name="connsiteX0" fmla="*/ 0 w 6729984"/>
              <a:gd name="connsiteY0" fmla="*/ 0 h 7923656"/>
              <a:gd name="connsiteX1" fmla="*/ 6729984 w 6729984"/>
              <a:gd name="connsiteY1" fmla="*/ 0 h 7923656"/>
              <a:gd name="connsiteX2" fmla="*/ 6729984 w 6729984"/>
              <a:gd name="connsiteY2" fmla="*/ 7923656 h 7923656"/>
              <a:gd name="connsiteX3" fmla="*/ 0 w 6729984"/>
              <a:gd name="connsiteY3" fmla="*/ 7923656 h 7923656"/>
              <a:gd name="connsiteX4" fmla="*/ 0 w 6729984"/>
              <a:gd name="connsiteY4" fmla="*/ 0 h 7923656"/>
              <a:gd name="connsiteX0" fmla="*/ 0 w 7375066"/>
              <a:gd name="connsiteY0" fmla="*/ 1832272 h 7923656"/>
              <a:gd name="connsiteX1" fmla="*/ 7375066 w 7375066"/>
              <a:gd name="connsiteY1" fmla="*/ 0 h 7923656"/>
              <a:gd name="connsiteX2" fmla="*/ 7375066 w 7375066"/>
              <a:gd name="connsiteY2" fmla="*/ 7923656 h 7923656"/>
              <a:gd name="connsiteX3" fmla="*/ 645082 w 7375066"/>
              <a:gd name="connsiteY3" fmla="*/ 7923656 h 7923656"/>
              <a:gd name="connsiteX4" fmla="*/ 0 w 7375066"/>
              <a:gd name="connsiteY4" fmla="*/ 1832272 h 7923656"/>
              <a:gd name="connsiteX0" fmla="*/ 0 w 7375066"/>
              <a:gd name="connsiteY0" fmla="*/ 1832272 h 8555080"/>
              <a:gd name="connsiteX1" fmla="*/ 7375066 w 7375066"/>
              <a:gd name="connsiteY1" fmla="*/ 0 h 8555080"/>
              <a:gd name="connsiteX2" fmla="*/ 7375066 w 7375066"/>
              <a:gd name="connsiteY2" fmla="*/ 7923656 h 8555080"/>
              <a:gd name="connsiteX3" fmla="*/ 1427443 w 7375066"/>
              <a:gd name="connsiteY3" fmla="*/ 8555080 h 8555080"/>
              <a:gd name="connsiteX4" fmla="*/ 0 w 7375066"/>
              <a:gd name="connsiteY4" fmla="*/ 1832272 h 8555080"/>
              <a:gd name="connsiteX0" fmla="*/ 0 w 7379504"/>
              <a:gd name="connsiteY0" fmla="*/ 1832272 h 8555080"/>
              <a:gd name="connsiteX1" fmla="*/ 7375066 w 7379504"/>
              <a:gd name="connsiteY1" fmla="*/ 0 h 8555080"/>
              <a:gd name="connsiteX2" fmla="*/ 7379504 w 7379504"/>
              <a:gd name="connsiteY2" fmla="*/ 7299493 h 8555080"/>
              <a:gd name="connsiteX3" fmla="*/ 1427443 w 7379504"/>
              <a:gd name="connsiteY3" fmla="*/ 8555080 h 8555080"/>
              <a:gd name="connsiteX4" fmla="*/ 0 w 7379504"/>
              <a:gd name="connsiteY4" fmla="*/ 1832272 h 8555080"/>
              <a:gd name="connsiteX0" fmla="*/ 0 w 7383348"/>
              <a:gd name="connsiteY0" fmla="*/ 1559770 h 8282578"/>
              <a:gd name="connsiteX1" fmla="*/ 7383130 w 7383348"/>
              <a:gd name="connsiteY1" fmla="*/ 0 h 8282578"/>
              <a:gd name="connsiteX2" fmla="*/ 7379504 w 7383348"/>
              <a:gd name="connsiteY2" fmla="*/ 7026991 h 8282578"/>
              <a:gd name="connsiteX3" fmla="*/ 1427443 w 7383348"/>
              <a:gd name="connsiteY3" fmla="*/ 8282578 h 8282578"/>
              <a:gd name="connsiteX4" fmla="*/ 0 w 7383348"/>
              <a:gd name="connsiteY4" fmla="*/ 1559770 h 8282578"/>
              <a:gd name="connsiteX0" fmla="*/ 0 w 7387625"/>
              <a:gd name="connsiteY0" fmla="*/ 1576541 h 8299349"/>
              <a:gd name="connsiteX1" fmla="*/ 7387488 w 7387625"/>
              <a:gd name="connsiteY1" fmla="*/ 0 h 8299349"/>
              <a:gd name="connsiteX2" fmla="*/ 7379504 w 7387625"/>
              <a:gd name="connsiteY2" fmla="*/ 7043762 h 8299349"/>
              <a:gd name="connsiteX3" fmla="*/ 1427443 w 7387625"/>
              <a:gd name="connsiteY3" fmla="*/ 8299349 h 8299349"/>
              <a:gd name="connsiteX4" fmla="*/ 0 w 7387625"/>
              <a:gd name="connsiteY4" fmla="*/ 1576541 h 8299349"/>
              <a:gd name="connsiteX0" fmla="*/ 0 w 7389221"/>
              <a:gd name="connsiteY0" fmla="*/ 1568962 h 8291770"/>
              <a:gd name="connsiteX1" fmla="*/ 7389100 w 7389221"/>
              <a:gd name="connsiteY1" fmla="*/ 0 h 8291770"/>
              <a:gd name="connsiteX2" fmla="*/ 7379504 w 7389221"/>
              <a:gd name="connsiteY2" fmla="*/ 7036183 h 8291770"/>
              <a:gd name="connsiteX3" fmla="*/ 1427443 w 7389221"/>
              <a:gd name="connsiteY3" fmla="*/ 8291770 h 8291770"/>
              <a:gd name="connsiteX4" fmla="*/ 0 w 7389221"/>
              <a:gd name="connsiteY4" fmla="*/ 1568962 h 8291770"/>
              <a:gd name="connsiteX0" fmla="*/ 0 w 7389378"/>
              <a:gd name="connsiteY0" fmla="*/ 1568962 h 8291770"/>
              <a:gd name="connsiteX1" fmla="*/ 7389100 w 7389378"/>
              <a:gd name="connsiteY1" fmla="*/ 0 h 8291770"/>
              <a:gd name="connsiteX2" fmla="*/ 7387084 w 7389378"/>
              <a:gd name="connsiteY2" fmla="*/ 7034572 h 8291770"/>
              <a:gd name="connsiteX3" fmla="*/ 1427443 w 7389378"/>
              <a:gd name="connsiteY3" fmla="*/ 8291770 h 8291770"/>
              <a:gd name="connsiteX4" fmla="*/ 0 w 7389378"/>
              <a:gd name="connsiteY4" fmla="*/ 1568962 h 8291770"/>
              <a:gd name="connsiteX0" fmla="*/ 0 w 7394663"/>
              <a:gd name="connsiteY0" fmla="*/ 1568962 h 8291770"/>
              <a:gd name="connsiteX1" fmla="*/ 7389100 w 7394663"/>
              <a:gd name="connsiteY1" fmla="*/ 0 h 8291770"/>
              <a:gd name="connsiteX2" fmla="*/ 7394663 w 7394663"/>
              <a:gd name="connsiteY2" fmla="*/ 7032961 h 8291770"/>
              <a:gd name="connsiteX3" fmla="*/ 1427443 w 7394663"/>
              <a:gd name="connsiteY3" fmla="*/ 8291770 h 8291770"/>
              <a:gd name="connsiteX4" fmla="*/ 0 w 7394663"/>
              <a:gd name="connsiteY4" fmla="*/ 1568962 h 8291770"/>
              <a:gd name="connsiteX0" fmla="*/ 0 w 7873073"/>
              <a:gd name="connsiteY0" fmla="*/ 1670651 h 8291770"/>
              <a:gd name="connsiteX1" fmla="*/ 7867510 w 7873073"/>
              <a:gd name="connsiteY1" fmla="*/ 0 h 8291770"/>
              <a:gd name="connsiteX2" fmla="*/ 7873073 w 7873073"/>
              <a:gd name="connsiteY2" fmla="*/ 7032961 h 8291770"/>
              <a:gd name="connsiteX3" fmla="*/ 1905853 w 7873073"/>
              <a:gd name="connsiteY3" fmla="*/ 8291770 h 8291770"/>
              <a:gd name="connsiteX4" fmla="*/ 0 w 7873073"/>
              <a:gd name="connsiteY4" fmla="*/ 1670651 h 8291770"/>
              <a:gd name="connsiteX0" fmla="*/ 0 w 7873073"/>
              <a:gd name="connsiteY0" fmla="*/ 1670651 h 8403860"/>
              <a:gd name="connsiteX1" fmla="*/ 7867510 w 7873073"/>
              <a:gd name="connsiteY1" fmla="*/ 0 h 8403860"/>
              <a:gd name="connsiteX2" fmla="*/ 7873073 w 7873073"/>
              <a:gd name="connsiteY2" fmla="*/ 7032961 h 8403860"/>
              <a:gd name="connsiteX3" fmla="*/ 1429654 w 7873073"/>
              <a:gd name="connsiteY3" fmla="*/ 8403860 h 8403860"/>
              <a:gd name="connsiteX4" fmla="*/ 0 w 7873073"/>
              <a:gd name="connsiteY4" fmla="*/ 1670651 h 8403860"/>
              <a:gd name="connsiteX0" fmla="*/ 0 w 7873073"/>
              <a:gd name="connsiteY0" fmla="*/ 1670651 h 7565694"/>
              <a:gd name="connsiteX1" fmla="*/ 7867510 w 7873073"/>
              <a:gd name="connsiteY1" fmla="*/ 0 h 7565694"/>
              <a:gd name="connsiteX2" fmla="*/ 7873073 w 7873073"/>
              <a:gd name="connsiteY2" fmla="*/ 7032961 h 7565694"/>
              <a:gd name="connsiteX3" fmla="*/ 5469714 w 7873073"/>
              <a:gd name="connsiteY3" fmla="*/ 7565695 h 7565694"/>
              <a:gd name="connsiteX4" fmla="*/ 0 w 7873073"/>
              <a:gd name="connsiteY4" fmla="*/ 1670651 h 7565694"/>
              <a:gd name="connsiteX0" fmla="*/ 1 w 3880757"/>
              <a:gd name="connsiteY0" fmla="*/ 801481 h 7565696"/>
              <a:gd name="connsiteX1" fmla="*/ 3875194 w 3880757"/>
              <a:gd name="connsiteY1" fmla="*/ 0 h 7565696"/>
              <a:gd name="connsiteX2" fmla="*/ 3880757 w 3880757"/>
              <a:gd name="connsiteY2" fmla="*/ 7032961 h 7565696"/>
              <a:gd name="connsiteX3" fmla="*/ 1477398 w 3880757"/>
              <a:gd name="connsiteY3" fmla="*/ 7565695 h 7565696"/>
              <a:gd name="connsiteX4" fmla="*/ 1 w 3880757"/>
              <a:gd name="connsiteY4" fmla="*/ 801481 h 7565696"/>
              <a:gd name="connsiteX0" fmla="*/ 0 w 3817509"/>
              <a:gd name="connsiteY0" fmla="*/ 808615 h 7565694"/>
              <a:gd name="connsiteX1" fmla="*/ 3811946 w 3817509"/>
              <a:gd name="connsiteY1" fmla="*/ 0 h 7565694"/>
              <a:gd name="connsiteX2" fmla="*/ 3817509 w 3817509"/>
              <a:gd name="connsiteY2" fmla="*/ 7032961 h 7565694"/>
              <a:gd name="connsiteX3" fmla="*/ 1414150 w 3817509"/>
              <a:gd name="connsiteY3" fmla="*/ 7565695 h 7565694"/>
              <a:gd name="connsiteX4" fmla="*/ 0 w 3817509"/>
              <a:gd name="connsiteY4" fmla="*/ 808615 h 7565694"/>
              <a:gd name="connsiteX0" fmla="*/ 0 w 2494762"/>
              <a:gd name="connsiteY0" fmla="*/ 540562 h 7565695"/>
              <a:gd name="connsiteX1" fmla="*/ 2489199 w 2494762"/>
              <a:gd name="connsiteY1" fmla="*/ 0 h 7565695"/>
              <a:gd name="connsiteX2" fmla="*/ 2494762 w 2494762"/>
              <a:gd name="connsiteY2" fmla="*/ 7032961 h 7565695"/>
              <a:gd name="connsiteX3" fmla="*/ 91403 w 2494762"/>
              <a:gd name="connsiteY3" fmla="*/ 7565695 h 7565695"/>
              <a:gd name="connsiteX4" fmla="*/ 0 w 2494762"/>
              <a:gd name="connsiteY4" fmla="*/ 540562 h 7565695"/>
              <a:gd name="connsiteX0" fmla="*/ 1 w 2513184"/>
              <a:gd name="connsiteY0" fmla="*/ 528650 h 7565695"/>
              <a:gd name="connsiteX1" fmla="*/ 2507621 w 2513184"/>
              <a:gd name="connsiteY1" fmla="*/ 0 h 7565695"/>
              <a:gd name="connsiteX2" fmla="*/ 2513184 w 2513184"/>
              <a:gd name="connsiteY2" fmla="*/ 7032961 h 7565695"/>
              <a:gd name="connsiteX3" fmla="*/ 109825 w 2513184"/>
              <a:gd name="connsiteY3" fmla="*/ 7565695 h 7565695"/>
              <a:gd name="connsiteX4" fmla="*/ 1 w 2513184"/>
              <a:gd name="connsiteY4" fmla="*/ 528650 h 7565695"/>
              <a:gd name="connsiteX0" fmla="*/ 0 w 2513183"/>
              <a:gd name="connsiteY0" fmla="*/ 528650 h 7245634"/>
              <a:gd name="connsiteX1" fmla="*/ 2507620 w 2513183"/>
              <a:gd name="connsiteY1" fmla="*/ 0 h 7245634"/>
              <a:gd name="connsiteX2" fmla="*/ 2513183 w 2513183"/>
              <a:gd name="connsiteY2" fmla="*/ 7032961 h 7245634"/>
              <a:gd name="connsiteX3" fmla="*/ 1453137 w 2513183"/>
              <a:gd name="connsiteY3" fmla="*/ 7245634 h 7245634"/>
              <a:gd name="connsiteX4" fmla="*/ 0 w 2513183"/>
              <a:gd name="connsiteY4" fmla="*/ 528650 h 7245634"/>
              <a:gd name="connsiteX0" fmla="*/ 0 w 2513183"/>
              <a:gd name="connsiteY0" fmla="*/ 528650 h 7215302"/>
              <a:gd name="connsiteX1" fmla="*/ 2507620 w 2513183"/>
              <a:gd name="connsiteY1" fmla="*/ 0 h 7215302"/>
              <a:gd name="connsiteX2" fmla="*/ 2513183 w 2513183"/>
              <a:gd name="connsiteY2" fmla="*/ 7032961 h 7215302"/>
              <a:gd name="connsiteX3" fmla="*/ 1446627 w 2513183"/>
              <a:gd name="connsiteY3" fmla="*/ 7215302 h 7215302"/>
              <a:gd name="connsiteX4" fmla="*/ 0 w 2513183"/>
              <a:gd name="connsiteY4" fmla="*/ 528650 h 7215302"/>
              <a:gd name="connsiteX0" fmla="*/ 0 w 2513183"/>
              <a:gd name="connsiteY0" fmla="*/ 528650 h 7221813"/>
              <a:gd name="connsiteX1" fmla="*/ 2507620 w 2513183"/>
              <a:gd name="connsiteY1" fmla="*/ 0 h 7221813"/>
              <a:gd name="connsiteX2" fmla="*/ 2513183 w 2513183"/>
              <a:gd name="connsiteY2" fmla="*/ 7032961 h 7221813"/>
              <a:gd name="connsiteX3" fmla="*/ 1416294 w 2513183"/>
              <a:gd name="connsiteY3" fmla="*/ 7221813 h 7221813"/>
              <a:gd name="connsiteX4" fmla="*/ 0 w 2513183"/>
              <a:gd name="connsiteY4" fmla="*/ 528650 h 7221813"/>
              <a:gd name="connsiteX0" fmla="*/ 0 w 2513183"/>
              <a:gd name="connsiteY0" fmla="*/ 528650 h 7231133"/>
              <a:gd name="connsiteX1" fmla="*/ 2507620 w 2513183"/>
              <a:gd name="connsiteY1" fmla="*/ 0 h 7231133"/>
              <a:gd name="connsiteX2" fmla="*/ 2513183 w 2513183"/>
              <a:gd name="connsiteY2" fmla="*/ 7032961 h 7231133"/>
              <a:gd name="connsiteX3" fmla="*/ 1418294 w 2513183"/>
              <a:gd name="connsiteY3" fmla="*/ 7231132 h 7231133"/>
              <a:gd name="connsiteX4" fmla="*/ 0 w 2513183"/>
              <a:gd name="connsiteY4" fmla="*/ 528650 h 7231133"/>
              <a:gd name="connsiteX0" fmla="*/ 0 w 2513183"/>
              <a:gd name="connsiteY0" fmla="*/ 528650 h 7236449"/>
              <a:gd name="connsiteX1" fmla="*/ 2507620 w 2513183"/>
              <a:gd name="connsiteY1" fmla="*/ 0 h 7236449"/>
              <a:gd name="connsiteX2" fmla="*/ 2513183 w 2513183"/>
              <a:gd name="connsiteY2" fmla="*/ 7032961 h 7236449"/>
              <a:gd name="connsiteX3" fmla="*/ 1438927 w 2513183"/>
              <a:gd name="connsiteY3" fmla="*/ 7236450 h 7236449"/>
              <a:gd name="connsiteX4" fmla="*/ 0 w 2513183"/>
              <a:gd name="connsiteY4" fmla="*/ 528650 h 7236449"/>
              <a:gd name="connsiteX0" fmla="*/ 0 w 2520499"/>
              <a:gd name="connsiteY0" fmla="*/ 539966 h 7236450"/>
              <a:gd name="connsiteX1" fmla="*/ 2514936 w 2520499"/>
              <a:gd name="connsiteY1" fmla="*/ 0 h 7236450"/>
              <a:gd name="connsiteX2" fmla="*/ 2520499 w 2520499"/>
              <a:gd name="connsiteY2" fmla="*/ 7032961 h 7236450"/>
              <a:gd name="connsiteX3" fmla="*/ 1446243 w 2520499"/>
              <a:gd name="connsiteY3" fmla="*/ 7236450 h 7236450"/>
              <a:gd name="connsiteX4" fmla="*/ 0 w 2520499"/>
              <a:gd name="connsiteY4" fmla="*/ 539966 h 7236450"/>
              <a:gd name="connsiteX0" fmla="*/ 0 w 2494549"/>
              <a:gd name="connsiteY0" fmla="*/ 524650 h 7236450"/>
              <a:gd name="connsiteX1" fmla="*/ 2488986 w 2494549"/>
              <a:gd name="connsiteY1" fmla="*/ 0 h 7236450"/>
              <a:gd name="connsiteX2" fmla="*/ 2494549 w 2494549"/>
              <a:gd name="connsiteY2" fmla="*/ 7032961 h 7236450"/>
              <a:gd name="connsiteX3" fmla="*/ 1420293 w 2494549"/>
              <a:gd name="connsiteY3" fmla="*/ 7236450 h 7236450"/>
              <a:gd name="connsiteX4" fmla="*/ 0 w 2494549"/>
              <a:gd name="connsiteY4" fmla="*/ 524650 h 7236450"/>
              <a:gd name="connsiteX0" fmla="*/ 0 w 2492549"/>
              <a:gd name="connsiteY0" fmla="*/ 533966 h 7236450"/>
              <a:gd name="connsiteX1" fmla="*/ 2486986 w 2492549"/>
              <a:gd name="connsiteY1" fmla="*/ 0 h 7236450"/>
              <a:gd name="connsiteX2" fmla="*/ 2492549 w 2492549"/>
              <a:gd name="connsiteY2" fmla="*/ 7032961 h 7236450"/>
              <a:gd name="connsiteX3" fmla="*/ 1418293 w 2492549"/>
              <a:gd name="connsiteY3" fmla="*/ 7236450 h 7236450"/>
              <a:gd name="connsiteX4" fmla="*/ 0 w 2492549"/>
              <a:gd name="connsiteY4" fmla="*/ 533966 h 7236450"/>
              <a:gd name="connsiteX0" fmla="*/ 0 w 2492549"/>
              <a:gd name="connsiteY0" fmla="*/ 533966 h 7042162"/>
              <a:gd name="connsiteX1" fmla="*/ 2486986 w 2492549"/>
              <a:gd name="connsiteY1" fmla="*/ 0 h 7042162"/>
              <a:gd name="connsiteX2" fmla="*/ 2492549 w 2492549"/>
              <a:gd name="connsiteY2" fmla="*/ 7032961 h 7042162"/>
              <a:gd name="connsiteX3" fmla="*/ 2471296 w 2492549"/>
              <a:gd name="connsiteY3" fmla="*/ 7042162 h 7042162"/>
              <a:gd name="connsiteX4" fmla="*/ 0 w 2492549"/>
              <a:gd name="connsiteY4" fmla="*/ 533966 h 7042162"/>
              <a:gd name="connsiteX0" fmla="*/ 0 w 1415722"/>
              <a:gd name="connsiteY0" fmla="*/ 302835 h 7042162"/>
              <a:gd name="connsiteX1" fmla="*/ 1410159 w 1415722"/>
              <a:gd name="connsiteY1" fmla="*/ 0 h 7042162"/>
              <a:gd name="connsiteX2" fmla="*/ 1415722 w 1415722"/>
              <a:gd name="connsiteY2" fmla="*/ 7032961 h 7042162"/>
              <a:gd name="connsiteX3" fmla="*/ 1394469 w 1415722"/>
              <a:gd name="connsiteY3" fmla="*/ 7042162 h 7042162"/>
              <a:gd name="connsiteX4" fmla="*/ 0 w 1415722"/>
              <a:gd name="connsiteY4" fmla="*/ 302835 h 7042162"/>
              <a:gd name="connsiteX0" fmla="*/ 0 w 1491555"/>
              <a:gd name="connsiteY0" fmla="*/ 319112 h 7042162"/>
              <a:gd name="connsiteX1" fmla="*/ 1485992 w 1491555"/>
              <a:gd name="connsiteY1" fmla="*/ 0 h 7042162"/>
              <a:gd name="connsiteX2" fmla="*/ 1491555 w 1491555"/>
              <a:gd name="connsiteY2" fmla="*/ 7032961 h 7042162"/>
              <a:gd name="connsiteX3" fmla="*/ 1470302 w 1491555"/>
              <a:gd name="connsiteY3" fmla="*/ 7042162 h 7042162"/>
              <a:gd name="connsiteX4" fmla="*/ 0 w 1491555"/>
              <a:gd name="connsiteY4" fmla="*/ 319112 h 7042162"/>
              <a:gd name="connsiteX0" fmla="*/ -1 w 1442799"/>
              <a:gd name="connsiteY0" fmla="*/ 324510 h 7042162"/>
              <a:gd name="connsiteX1" fmla="*/ 1437236 w 1442799"/>
              <a:gd name="connsiteY1" fmla="*/ 0 h 7042162"/>
              <a:gd name="connsiteX2" fmla="*/ 1442799 w 1442799"/>
              <a:gd name="connsiteY2" fmla="*/ 7032961 h 7042162"/>
              <a:gd name="connsiteX3" fmla="*/ 1421546 w 1442799"/>
              <a:gd name="connsiteY3" fmla="*/ 7042162 h 7042162"/>
              <a:gd name="connsiteX4" fmla="*/ -1 w 1442799"/>
              <a:gd name="connsiteY4" fmla="*/ 324510 h 7042162"/>
              <a:gd name="connsiteX0" fmla="*/ 1 w 1442801"/>
              <a:gd name="connsiteY0" fmla="*/ 309037 h 7026689"/>
              <a:gd name="connsiteX1" fmla="*/ 1427236 w 1442801"/>
              <a:gd name="connsiteY1" fmla="*/ 0 h 7026689"/>
              <a:gd name="connsiteX2" fmla="*/ 1442801 w 1442801"/>
              <a:gd name="connsiteY2" fmla="*/ 7017488 h 7026689"/>
              <a:gd name="connsiteX3" fmla="*/ 1421548 w 1442801"/>
              <a:gd name="connsiteY3" fmla="*/ 7026689 h 7026689"/>
              <a:gd name="connsiteX4" fmla="*/ 1 w 1442801"/>
              <a:gd name="connsiteY4" fmla="*/ 309037 h 7026689"/>
              <a:gd name="connsiteX0" fmla="*/ -1 w 1442799"/>
              <a:gd name="connsiteY0" fmla="*/ 309037 h 7017487"/>
              <a:gd name="connsiteX1" fmla="*/ 1427234 w 1442799"/>
              <a:gd name="connsiteY1" fmla="*/ 0 h 7017487"/>
              <a:gd name="connsiteX2" fmla="*/ 1442799 w 1442799"/>
              <a:gd name="connsiteY2" fmla="*/ 7017488 h 7017487"/>
              <a:gd name="connsiteX3" fmla="*/ 1431553 w 1442799"/>
              <a:gd name="connsiteY3" fmla="*/ 7011216 h 7017487"/>
              <a:gd name="connsiteX4" fmla="*/ -1 w 1442799"/>
              <a:gd name="connsiteY4" fmla="*/ 309037 h 7017487"/>
              <a:gd name="connsiteX0" fmla="*/ -1 w 1442799"/>
              <a:gd name="connsiteY0" fmla="*/ 353107 h 7061557"/>
              <a:gd name="connsiteX1" fmla="*/ 1428680 w 1442799"/>
              <a:gd name="connsiteY1" fmla="*/ 1 h 7061557"/>
              <a:gd name="connsiteX2" fmla="*/ 1442799 w 1442799"/>
              <a:gd name="connsiteY2" fmla="*/ 7061558 h 7061557"/>
              <a:gd name="connsiteX3" fmla="*/ 1431553 w 1442799"/>
              <a:gd name="connsiteY3" fmla="*/ 7055286 h 7061557"/>
              <a:gd name="connsiteX4" fmla="*/ -1 w 1442799"/>
              <a:gd name="connsiteY4" fmla="*/ 353107 h 7061557"/>
              <a:gd name="connsiteX0" fmla="*/ 0 w 1464516"/>
              <a:gd name="connsiteY0" fmla="*/ 303089 h 7061557"/>
              <a:gd name="connsiteX1" fmla="*/ 1450397 w 1464516"/>
              <a:gd name="connsiteY1" fmla="*/ 1 h 7061557"/>
              <a:gd name="connsiteX2" fmla="*/ 1464516 w 1464516"/>
              <a:gd name="connsiteY2" fmla="*/ 7061558 h 7061557"/>
              <a:gd name="connsiteX3" fmla="*/ 1453270 w 1464516"/>
              <a:gd name="connsiteY3" fmla="*/ 7055286 h 7061557"/>
              <a:gd name="connsiteX4" fmla="*/ 0 w 1464516"/>
              <a:gd name="connsiteY4" fmla="*/ 303089 h 7061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516" h="7061557">
                <a:moveTo>
                  <a:pt x="0" y="303089"/>
                </a:moveTo>
                <a:lnTo>
                  <a:pt x="1450397" y="1"/>
                </a:lnTo>
                <a:cubicBezTo>
                  <a:pt x="1451876" y="2433165"/>
                  <a:pt x="1463037" y="4628394"/>
                  <a:pt x="1464516" y="7061558"/>
                </a:cubicBezTo>
                <a:lnTo>
                  <a:pt x="1453270" y="7055286"/>
                </a:lnTo>
                <a:lnTo>
                  <a:pt x="0" y="303089"/>
                </a:lnTo>
                <a:close/>
              </a:path>
            </a:pathLst>
          </a:custGeom>
          <a:solidFill>
            <a:srgbClr val="EA5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021C72E9-4FFD-F642-9292-087C1D4DF696}"/>
              </a:ext>
            </a:extLst>
          </p:cNvPr>
          <p:cNvSpPr txBox="1">
            <a:spLocks/>
          </p:cNvSpPr>
          <p:nvPr/>
        </p:nvSpPr>
        <p:spPr>
          <a:xfrm>
            <a:off x="1727905" y="344067"/>
            <a:ext cx="5924179" cy="688009"/>
          </a:xfrm>
          <a:prstGeom prst="rect">
            <a:avLst/>
          </a:prstGeom>
        </p:spPr>
        <p:txBody>
          <a:bodyPr lIns="0" tIns="0" rIns="0" b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E30A0A"/>
                </a:solidFill>
                <a:latin typeface="Times New Roman" panose="02020603050405020304" pitchFamily="18" charset="0"/>
                <a:cs typeface="Times New Roman" panose="02020603050405020304" pitchFamily="18" charset="0"/>
              </a:rPr>
              <a:t>Q&amp;A/REFERENCES</a:t>
            </a:r>
            <a:endParaRPr lang="en-US" sz="3200" b="1" dirty="0">
              <a:solidFill>
                <a:srgbClr val="E30A0A"/>
              </a:solidFill>
              <a:latin typeface="Times New Roman" panose="02020603050405020304" pitchFamily="18" charset="0"/>
              <a:cs typeface="Times New Roman" panose="02020603050405020304" pitchFamily="18" charset="0"/>
            </a:endParaRPr>
          </a:p>
        </p:txBody>
      </p:sp>
      <p:sp>
        <p:nvSpPr>
          <p:cNvPr id="7" name="Right Arrow 6"/>
          <p:cNvSpPr/>
          <p:nvPr/>
        </p:nvSpPr>
        <p:spPr>
          <a:xfrm>
            <a:off x="707356" y="238851"/>
            <a:ext cx="775667" cy="616900"/>
          </a:xfrm>
          <a:prstGeom prst="rightArrow">
            <a:avLst/>
          </a:prstGeom>
          <a:solidFill>
            <a:srgbClr val="E3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891989" y="1910231"/>
            <a:ext cx="9717426" cy="3170099"/>
          </a:xfrm>
          <a:prstGeom prst="rect">
            <a:avLst/>
          </a:prstGeom>
          <a:noFill/>
        </p:spPr>
        <p:txBody>
          <a:bodyPr wrap="square" rtlCol="0">
            <a:spAutoFit/>
          </a:bodyPr>
          <a:lstStyle/>
          <a:p>
            <a:pPr algn="just"/>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Li, Y., Chu, X., Tian, D., Feng, J. and Mu, W. (2021). Customer segmentation using K-means clustering and the adaptive particle swarm optimization algorithm. Applied Soft Computing, 113, p.107924.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doi:https</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://doi.org/10.1016/j.asoc.2021.107924.</a:t>
            </a:r>
          </a:p>
          <a:p>
            <a:pPr algn="just"/>
            <a:endParaRPr lang="en-GB" sz="2000" dirty="0">
              <a:latin typeface="Times New Roman" panose="02020603050405020304" pitchFamily="18" charset="0"/>
              <a:cs typeface="Times New Roman" panose="02020603050405020304" pitchFamily="18" charset="0"/>
            </a:endParaRPr>
          </a:p>
          <a:p>
            <a:pPr algn="just"/>
            <a:endParaRPr lang="en-GB" sz="2000" dirty="0">
              <a:latin typeface="Times New Roman" panose="02020603050405020304" pitchFamily="18" charset="0"/>
              <a:cs typeface="Times New Roman" panose="02020603050405020304" pitchFamily="18" charset="0"/>
            </a:endParaRPr>
          </a:p>
          <a:p>
            <a:pPr algn="just"/>
            <a:endParaRPr lang="en-GB" sz="2000" dirty="0">
              <a:latin typeface="Times New Roman" panose="02020603050405020304" pitchFamily="18" charset="0"/>
              <a:cs typeface="Times New Roman" panose="02020603050405020304" pitchFamily="18" charset="0"/>
            </a:endParaRPr>
          </a:p>
          <a:p>
            <a:pPr algn="just"/>
            <a:r>
              <a:rPr lang="en-GB"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‌Wu, H. and Wang, Q. (2022). GEAE: Gated Enhanced Autoencoder based Feature Extraction and Clustering for Customer Segmentation. </a:t>
            </a:r>
            <a:r>
              <a:rPr lang="en-GB" sz="2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2022 International Joint Conference on Neural Networks (IJCNN)</a:t>
            </a:r>
            <a:r>
              <a:rPr lang="en-GB"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doi:https</a:t>
            </a:r>
            <a:r>
              <a:rPr lang="en-GB"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://doi.org/10.1109/ijcnn55064.2022.9892475.</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pic>
        <p:nvPicPr>
          <p:cNvPr id="6" name="Picture 2" descr="University of Sunderland - Wikipedia">
            <a:extLst>
              <a:ext uri="{FF2B5EF4-FFF2-40B4-BE49-F238E27FC236}">
                <a16:creationId xmlns:a16="http://schemas.microsoft.com/office/drawing/2014/main" id="{4C817B11-1C80-0593-2450-DD0BBA74D0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16354" y="849"/>
            <a:ext cx="2211324" cy="1033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462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1765</TotalTime>
  <Words>918</Words>
  <Application>Microsoft Office PowerPoint</Application>
  <PresentationFormat>Widescreen</PresentationFormat>
  <Paragraphs>136</Paragraphs>
  <Slides>11</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Algerian</vt:lpstr>
      <vt:lpstr>Arial</vt:lpstr>
      <vt:lpstr>Arial Black</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Doctor</dc:creator>
  <cp:lastModifiedBy>ADMIN</cp:lastModifiedBy>
  <cp:revision>93</cp:revision>
  <dcterms:created xsi:type="dcterms:W3CDTF">2023-10-04T10:32:32Z</dcterms:created>
  <dcterms:modified xsi:type="dcterms:W3CDTF">2024-08-12T20:47:23Z</dcterms:modified>
</cp:coreProperties>
</file>